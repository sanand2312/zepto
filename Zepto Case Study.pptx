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ial" charset="1" panose="020B0604020202020204"/>
      <p:regular r:id="rId23"/>
    </p:embeddedFont>
    <p:embeddedFont>
      <p:font typeface="Montserrat Bold" charset="1" panose="00000800000000000000"/>
      <p:regular r:id="rId24"/>
    </p:embeddedFont>
    <p:embeddedFont>
      <p:font typeface="Open Sans" charset="1" panose="00000000000000000000"/>
      <p:regular r:id="rId25"/>
    </p:embeddedFont>
    <p:embeddedFont>
      <p:font typeface="Arial Bold" charset="1" panose="020B0704020202020204"/>
      <p:regular r:id="rId26"/>
    </p:embeddedFont>
    <p:embeddedFont>
      <p:font typeface="Ballpoint" charset="1" panose="00000000000000000000"/>
      <p:regular r:id="rId27"/>
    </p:embeddedFont>
    <p:embeddedFont>
      <p:font typeface="Aileron Heavy" charset="1" panose="00000A00000000000000"/>
      <p:regular r:id="rId28"/>
    </p:embeddedFont>
    <p:embeddedFont>
      <p:font typeface="Aileron" charset="1" panose="00000500000000000000"/>
      <p:regular r:id="rId29"/>
    </p:embeddedFont>
    <p:embeddedFont>
      <p:font typeface="Aileron Ultra-Bold" charset="1" panose="00000A00000000000000"/>
      <p:regular r:id="rId30"/>
    </p:embeddedFont>
    <p:embeddedFont>
      <p:font typeface="Clear Sans" charset="1" panose="020B0503030202020304"/>
      <p:regular r:id="rId31"/>
    </p:embeddedFont>
    <p:embeddedFont>
      <p:font typeface="Archivo Black" charset="1" panose="020B0A03020202020B04"/>
      <p:regular r:id="rId32"/>
    </p:embeddedFont>
    <p:embeddedFont>
      <p:font typeface="Garet Italics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7.xml" Type="http://schemas.openxmlformats.org/officeDocument/2006/relationships/slide"/><Relationship Id="rId11" Target="slide15.xml" Type="http://schemas.openxmlformats.org/officeDocument/2006/relationships/slide"/><Relationship Id="rId12" Target="slide16.xml" Type="http://schemas.openxmlformats.org/officeDocument/2006/relationships/slide"/><Relationship Id="rId13" Target="slide12.xml" Type="http://schemas.openxmlformats.org/officeDocument/2006/relationships/slide"/><Relationship Id="rId2" Target="../media/image2.jpeg" Type="http://schemas.openxmlformats.org/officeDocument/2006/relationships/image"/><Relationship Id="rId3" Target="slide3.xml" Type="http://schemas.openxmlformats.org/officeDocument/2006/relationships/slide"/><Relationship Id="rId4" Target="slide4.xml" Type="http://schemas.openxmlformats.org/officeDocument/2006/relationships/slide"/><Relationship Id="rId5" Target="slide5.xml" Type="http://schemas.openxmlformats.org/officeDocument/2006/relationships/slide"/><Relationship Id="rId6" Target="slide6.xml" Type="http://schemas.openxmlformats.org/officeDocument/2006/relationships/slide"/><Relationship Id="rId7" Target="slide8.xml" Type="http://schemas.openxmlformats.org/officeDocument/2006/relationships/slide"/><Relationship Id="rId8" Target="slide11.xml" Type="http://schemas.openxmlformats.org/officeDocument/2006/relationships/slide"/><Relationship Id="rId9" Target="slide9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slide2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VAHWOnQoOyg.mp4" Type="http://schemas.openxmlformats.org/officeDocument/2006/relationships/video"/><Relationship Id="rId4" Target="../media/VAHWOnQoOyg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jpe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2.png" Type="http://schemas.openxmlformats.org/officeDocument/2006/relationships/image"/><Relationship Id="rId17" Target="../media/image33.svg" Type="http://schemas.openxmlformats.org/officeDocument/2006/relationships/image"/><Relationship Id="rId18" Target="../media/image34.png" Type="http://schemas.openxmlformats.org/officeDocument/2006/relationships/image"/><Relationship Id="rId19" Target="../media/image35.svg" Type="http://schemas.openxmlformats.org/officeDocument/2006/relationships/image"/><Relationship Id="rId2" Target="../media/image18.png" Type="http://schemas.openxmlformats.org/officeDocument/2006/relationships/image"/><Relationship Id="rId20" Target="../media/image36.jpe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63.png" Type="http://schemas.openxmlformats.org/officeDocument/2006/relationships/image"/><Relationship Id="rId15" Target="../media/image64.svg" Type="http://schemas.openxmlformats.org/officeDocument/2006/relationships/image"/><Relationship Id="rId16" Target="../media/image65.png" Type="http://schemas.openxmlformats.org/officeDocument/2006/relationships/image"/><Relationship Id="rId17" Target="../media/image66.svg" Type="http://schemas.openxmlformats.org/officeDocument/2006/relationships/imag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2" Target="../media/image67.png" Type="http://schemas.openxmlformats.org/officeDocument/2006/relationships/image"/><Relationship Id="rId3" Target="../media/image68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svg" Type="http://schemas.openxmlformats.org/officeDocument/2006/relationships/image"/><Relationship Id="rId12" Target="../media/image80.png" Type="http://schemas.openxmlformats.org/officeDocument/2006/relationships/image"/><Relationship Id="rId13" Target="../media/image81.svg" Type="http://schemas.openxmlformats.org/officeDocument/2006/relationships/image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Relationship Id="rId6" Target="../media/image74.png" Type="http://schemas.openxmlformats.org/officeDocument/2006/relationships/image"/><Relationship Id="rId7" Target="../media/image75.svg" Type="http://schemas.openxmlformats.org/officeDocument/2006/relationships/image"/><Relationship Id="rId8" Target="../media/image76.png" Type="http://schemas.openxmlformats.org/officeDocument/2006/relationships/image"/><Relationship Id="rId9" Target="../media/image7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8668" y="1272964"/>
            <a:ext cx="8388382" cy="7154440"/>
          </a:xfrm>
          <a:custGeom>
            <a:avLst/>
            <a:gdLst/>
            <a:ahLst/>
            <a:cxnLst/>
            <a:rect r="r" b="b" t="t" l="l"/>
            <a:pathLst>
              <a:path h="7154440" w="8388382">
                <a:moveTo>
                  <a:pt x="0" y="0"/>
                </a:moveTo>
                <a:lnTo>
                  <a:pt x="8388382" y="0"/>
                </a:lnTo>
                <a:lnTo>
                  <a:pt x="8388382" y="7154440"/>
                </a:lnTo>
                <a:lnTo>
                  <a:pt x="0" y="7154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42" r="0" b="-1510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7473" y="4122701"/>
            <a:ext cx="7393322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</a:rPr>
              <a:t>Business Case Study and Report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7473" y="7024948"/>
            <a:ext cx="6717999" cy="16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"/>
              </a:lnSpc>
            </a:pPr>
            <a:r>
              <a:rPr lang="en-US" b="true" sz="2000" spc="68">
                <a:solidFill>
                  <a:srgbClr val="1C4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7473" y="7370494"/>
            <a:ext cx="671799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Anand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5132" y="769970"/>
            <a:ext cx="8818769" cy="5845790"/>
          </a:xfrm>
          <a:custGeom>
            <a:avLst/>
            <a:gdLst/>
            <a:ahLst/>
            <a:cxnLst/>
            <a:rect r="r" b="b" t="t" l="l"/>
            <a:pathLst>
              <a:path h="5845790" w="8818769">
                <a:moveTo>
                  <a:pt x="0" y="0"/>
                </a:moveTo>
                <a:lnTo>
                  <a:pt x="8818769" y="0"/>
                </a:lnTo>
                <a:lnTo>
                  <a:pt x="8818769" y="5845790"/>
                </a:lnTo>
                <a:lnTo>
                  <a:pt x="0" y="5845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-3049" t="0" r="-304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4075" y="7352386"/>
            <a:ext cx="248190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53688" y="435864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3" action="ppaction://hlinksldjump"/>
              </a:rPr>
              <a:t>Company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53688" y="1228039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4" action="ppaction://hlinksldjump"/>
              </a:rPr>
              <a:t>Busi</a:t>
            </a: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4" action="ppaction://hlinksldjump"/>
              </a:rPr>
              <a:t>ness Model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53688" y="2020214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5" action="ppaction://hlinksldjump"/>
              </a:rPr>
              <a:t>Unique </a:t>
            </a: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5" action="ppaction://hlinksldjump"/>
              </a:rPr>
              <a:t>Selling Proposition (USP)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53688" y="3050515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6" action="ppaction://hlinksldjump"/>
              </a:rPr>
              <a:t>Mark</a:t>
            </a: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6" action="ppaction://hlinksldjump"/>
              </a:rPr>
              <a:t>et Gap &amp; Customer Need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53688" y="4872990"/>
            <a:ext cx="6024896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7" action="ppaction://hlinksldjump"/>
              </a:rPr>
              <a:t>Cust</a:t>
            </a: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7" action="ppaction://hlinksldjump"/>
              </a:rPr>
              <a:t>omer Review &amp; Sentiment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53688" y="6933591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8" action="ppaction://hlinksldjump"/>
              </a:rPr>
              <a:t>SWOT A</a:t>
            </a: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8" action="ppaction://hlinksldjump"/>
              </a:rPr>
              <a:t>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53688" y="6141415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9" action="ppaction://hlinksldjump"/>
              </a:rPr>
              <a:t>C</a:t>
            </a: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9" action="ppaction://hlinksldjump"/>
              </a:rPr>
              <a:t>ompetitor Benchmarking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53688" y="4080815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10" action="ppaction://hlinksldjump"/>
              </a:rPr>
              <a:t>Tech</a:t>
            </a: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10" action="ppaction://hlinksldjump"/>
              </a:rPr>
              <a:t>nology &amp; Innovation Study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53688" y="8517941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11" action="ppaction://hlinksldjump"/>
              </a:rPr>
              <a:t>Stra</a:t>
            </a: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11" action="ppaction://hlinksldjump"/>
              </a:rPr>
              <a:t>tegic Business Recommendations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53688" y="9310116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12" action="ppaction://hlinksldjump"/>
              </a:rPr>
              <a:t>Result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53688" y="7725766"/>
            <a:ext cx="602489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13" action="ppaction://hlinksldjump"/>
              </a:rPr>
              <a:t>K</a:t>
            </a: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13" action="ppaction://hlinksldjump"/>
              </a:rPr>
              <a:t>ey Insights &amp; Findings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569798" y="0"/>
            <a:ext cx="15967855" cy="10875523"/>
            <a:chOff x="0" y="0"/>
            <a:chExt cx="5475623" cy="37293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blipFill>
              <a:blip r:embed="rId2"/>
              <a:stretch>
                <a:fillRect l="-1065" t="0" r="-1065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78715" y="734778"/>
            <a:ext cx="677938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 u="sng">
                <a:solidFill>
                  <a:srgbClr val="1C402E"/>
                </a:solidFill>
                <a:latin typeface="Arial Bold"/>
                <a:ea typeface="Arial Bold"/>
                <a:cs typeface="Arial Bold"/>
                <a:sym typeface="Arial Bold"/>
              </a:rPr>
              <a:t>Company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8715" y="2335352"/>
            <a:ext cx="7881902" cy="440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4400"/>
              </a:lnSpc>
              <a:buFont typeface="Arial"/>
              <a:buChar char="•"/>
            </a:pPr>
            <a:r>
              <a:rPr lang="en-US" sz="2699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</a:rPr>
              <a:t>Founded - 2021</a:t>
            </a:r>
          </a:p>
          <a:p>
            <a:pPr algn="l" marL="582924" indent="-291462" lvl="1">
              <a:lnSpc>
                <a:spcPts val="4400"/>
              </a:lnSpc>
              <a:buFont typeface="Arial"/>
              <a:buChar char="•"/>
            </a:pPr>
            <a:r>
              <a:rPr lang="en-US" sz="2699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</a:rPr>
              <a:t>Founders - Aadit Palicha and Kaivalya Vohra</a:t>
            </a:r>
          </a:p>
          <a:p>
            <a:pPr algn="l" marL="582924" indent="-291462" lvl="1">
              <a:lnSpc>
                <a:spcPts val="4400"/>
              </a:lnSpc>
              <a:buFont typeface="Arial"/>
              <a:buChar char="•"/>
            </a:pPr>
            <a:r>
              <a:rPr lang="en-US" sz="2699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</a:rPr>
              <a:t>Industry - Quick Commerce / E-commerce</a:t>
            </a:r>
          </a:p>
          <a:p>
            <a:pPr algn="l" marL="582924" indent="-291462" lvl="1">
              <a:lnSpc>
                <a:spcPts val="4400"/>
              </a:lnSpc>
              <a:buFont typeface="Arial"/>
              <a:buChar char="•"/>
            </a:pPr>
            <a:r>
              <a:rPr lang="en-US" sz="2699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</a:rPr>
              <a:t>Headquarters - Bengaluru, Karnataka, India</a:t>
            </a:r>
          </a:p>
          <a:p>
            <a:pPr algn="l" marL="582924" indent="-291462" lvl="1">
              <a:lnSpc>
                <a:spcPts val="4400"/>
              </a:lnSpc>
              <a:buFont typeface="Arial"/>
              <a:buChar char="•"/>
            </a:pPr>
            <a:r>
              <a:rPr lang="en-US" sz="2699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</a:rPr>
              <a:t>40+ million users </a:t>
            </a:r>
          </a:p>
          <a:p>
            <a:pPr algn="l" marL="582924" indent="-291462" lvl="1">
              <a:lnSpc>
                <a:spcPts val="4400"/>
              </a:lnSpc>
              <a:buFont typeface="Arial"/>
              <a:buChar char="•"/>
            </a:pPr>
            <a:r>
              <a:rPr lang="en-US" b="true" sz="2699">
                <a:solidFill>
                  <a:srgbClr val="1C402E"/>
                </a:solidFill>
                <a:latin typeface="Arial Bold"/>
                <a:ea typeface="Arial Bold"/>
                <a:cs typeface="Arial Bold"/>
                <a:sym typeface="Arial Bold"/>
              </a:rPr>
              <a:t>200+ Dark stores</a:t>
            </a:r>
            <a:r>
              <a:rPr lang="en-US" sz="2699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</a:rPr>
              <a:t> close to customers</a:t>
            </a:r>
          </a:p>
          <a:p>
            <a:pPr algn="l" marL="582924" indent="-291462" lvl="1">
              <a:lnSpc>
                <a:spcPts val="4400"/>
              </a:lnSpc>
              <a:buFont typeface="Arial"/>
              <a:buChar char="•"/>
            </a:pPr>
            <a:r>
              <a:rPr lang="en-US" b="true" sz="2699">
                <a:solidFill>
                  <a:srgbClr val="1C402E"/>
                </a:solidFill>
                <a:latin typeface="Arial Bold"/>
                <a:ea typeface="Arial Bold"/>
                <a:cs typeface="Arial Bold"/>
                <a:sym typeface="Arial Bold"/>
              </a:rPr>
              <a:t>Daily essentials and other categories</a:t>
            </a:r>
          </a:p>
          <a:p>
            <a:pPr algn="l" marL="582924" indent="-291462" lvl="1">
              <a:lnSpc>
                <a:spcPts val="4400"/>
              </a:lnSpc>
              <a:buFont typeface="Arial"/>
              <a:buChar char="•"/>
            </a:pPr>
            <a:r>
              <a:rPr lang="en-US" sz="2699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</a:rPr>
              <a:t>25 Minutes Delivery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8715" y="9124950"/>
            <a:ext cx="3760969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0"/>
              </a:lnSpc>
            </a:pPr>
            <a:r>
              <a:rPr lang="en-US" sz="2700" u="sng">
                <a:solidFill>
                  <a:srgbClr val="1C402E"/>
                </a:solidFill>
                <a:latin typeface="Arial"/>
                <a:ea typeface="Arial"/>
                <a:cs typeface="Arial"/>
                <a:sym typeface="Arial"/>
                <a:hlinkClick r:id="rId3" action="ppaction://hlinksldjump"/>
              </a:rPr>
              <a:t>Back to Agenda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010793" y="2125428"/>
            <a:ext cx="15967855" cy="10875523"/>
            <a:chOff x="0" y="0"/>
            <a:chExt cx="5475623" cy="37293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4924"/>
            <a:ext cx="8115300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b="true" sz="4800" spc="38" u="sng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Business Model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99039" y="1543089"/>
            <a:ext cx="5141058" cy="108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064" spc="2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Zepto’s Revenue </a:t>
            </a:r>
          </a:p>
          <a:p>
            <a:pPr algn="l">
              <a:lnSpc>
                <a:spcPts val="429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373231" y="1622465"/>
            <a:ext cx="4565985" cy="1048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2960" spc="23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Value to customer</a:t>
            </a:r>
          </a:p>
          <a:p>
            <a:pPr algn="l">
              <a:lnSpc>
                <a:spcPts val="414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399039" y="5133238"/>
            <a:ext cx="3314934" cy="126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460" spc="1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Membership</a:t>
            </a:r>
          </a:p>
          <a:p>
            <a:pPr algn="l">
              <a:lnSpc>
                <a:spcPts val="3359"/>
              </a:lnSpc>
            </a:pPr>
            <a:r>
              <a:rPr lang="en-US" sz="2400" spc="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Zepto Pass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540012" y="6273653"/>
            <a:ext cx="3730588" cy="87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64" spc="1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Key Costs of Zepto</a:t>
            </a:r>
          </a:p>
          <a:p>
            <a:pPr algn="l">
              <a:lnSpc>
                <a:spcPts val="345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399039" y="2061123"/>
            <a:ext cx="6057220" cy="506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9"/>
              </a:lnSpc>
            </a:pPr>
            <a:r>
              <a:rPr lang="en-US" sz="296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Delivery Commissions</a:t>
            </a:r>
          </a:p>
          <a:p>
            <a:pPr algn="l">
              <a:lnSpc>
                <a:spcPts val="3777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8%–25% Per Order </a:t>
            </a:r>
          </a:p>
          <a:p>
            <a:pPr algn="l">
              <a:lnSpc>
                <a:spcPts val="2068"/>
              </a:lnSpc>
            </a:pPr>
          </a:p>
          <a:p>
            <a:pPr algn="l">
              <a:lnSpc>
                <a:spcPts val="4659"/>
              </a:lnSpc>
            </a:pPr>
            <a:r>
              <a:rPr lang="en-US" sz="296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Advertising &amp; Promotions</a:t>
            </a:r>
          </a:p>
          <a:p>
            <a:pPr algn="l">
              <a:lnSpc>
                <a:spcPts val="3777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Digital advertising, influencer marketing &amp; Social Media Marketing</a:t>
            </a:r>
          </a:p>
          <a:p>
            <a:pPr algn="l">
              <a:lnSpc>
                <a:spcPts val="4372"/>
              </a:lnSpc>
            </a:pPr>
          </a:p>
          <a:p>
            <a:pPr algn="l">
              <a:lnSpc>
                <a:spcPts val="4372"/>
              </a:lnSpc>
            </a:pPr>
          </a:p>
          <a:p>
            <a:pPr algn="l">
              <a:lnSpc>
                <a:spcPts val="4372"/>
              </a:lnSpc>
            </a:pPr>
          </a:p>
          <a:p>
            <a:pPr algn="l">
              <a:lnSpc>
                <a:spcPts val="2068"/>
              </a:lnSpc>
            </a:pPr>
          </a:p>
          <a:p>
            <a:pPr algn="l">
              <a:lnSpc>
                <a:spcPts val="206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9634" y="2539626"/>
            <a:ext cx="6729445" cy="379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515" indent="-259257" lvl="1">
              <a:lnSpc>
                <a:spcPts val="3780"/>
              </a:lnSpc>
              <a:buFont typeface="Arial"/>
              <a:buChar char="•"/>
            </a:pPr>
            <a:r>
              <a:rPr lang="en-US" sz="24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Wide Product Range – Groceries, snacks, beverages, personal care, household. items and more are available in one place.</a:t>
            </a:r>
          </a:p>
          <a:p>
            <a:pPr algn="l" marL="518515" indent="-259257" lvl="1">
              <a:lnSpc>
                <a:spcPts val="3780"/>
              </a:lnSpc>
              <a:buFont typeface="Arial"/>
              <a:buChar char="•"/>
            </a:pPr>
            <a:r>
              <a:rPr lang="en-US" sz="24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tracking &amp; live updates.</a:t>
            </a:r>
          </a:p>
          <a:p>
            <a:pPr algn="l" marL="518515" indent="-259257" lvl="1">
              <a:lnSpc>
                <a:spcPts val="3780"/>
              </a:lnSpc>
              <a:buFont typeface="Arial"/>
              <a:buChar char="•"/>
            </a:pPr>
            <a:r>
              <a:rPr lang="en-US" sz="24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Delivered in around 10 minutes in eligible locations.</a:t>
            </a:r>
          </a:p>
          <a:p>
            <a:pPr algn="l" marL="518515" indent="-259257" lvl="1">
              <a:lnSpc>
                <a:spcPts val="3780"/>
              </a:lnSpc>
              <a:buFont typeface="Arial"/>
              <a:buChar char="•"/>
            </a:pPr>
            <a:r>
              <a:rPr lang="en-US" sz="240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 delivery on Zepto Pass.</a:t>
            </a: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399039" y="6179083"/>
            <a:ext cx="4203028" cy="232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9"/>
              </a:lnSpc>
            </a:pPr>
            <a:r>
              <a:rPr lang="en-US" sz="296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Fast Deleivery</a:t>
            </a:r>
          </a:p>
          <a:p>
            <a:pPr algn="l">
              <a:lnSpc>
                <a:spcPts val="3777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10-min grocery delivery, Household Essentials</a:t>
            </a:r>
          </a:p>
          <a:p>
            <a:pPr algn="l">
              <a:lnSpc>
                <a:spcPts val="3872"/>
              </a:lnSpc>
            </a:pPr>
          </a:p>
          <a:p>
            <a:pPr algn="l">
              <a:lnSpc>
                <a:spcPts val="220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9634" y="6797692"/>
            <a:ext cx="7460341" cy="234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777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Dark Store Operations</a:t>
            </a:r>
          </a:p>
          <a:p>
            <a:pPr algn="l" marL="518160" indent="-259080" lvl="1">
              <a:lnSpc>
                <a:spcPts val="3777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Technology &amp; platform maintenance</a:t>
            </a:r>
          </a:p>
          <a:p>
            <a:pPr algn="l" marL="518160" indent="-259080" lvl="1">
              <a:lnSpc>
                <a:spcPts val="3777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Marketing &amp; Promotions</a:t>
            </a:r>
          </a:p>
          <a:p>
            <a:pPr algn="l" marL="518160" indent="-259080" lvl="1">
              <a:lnSpc>
                <a:spcPts val="3777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Inventory Costs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2705" y="0"/>
            <a:ext cx="10635295" cy="2571750"/>
            <a:chOff x="0" y="0"/>
            <a:chExt cx="2814124" cy="680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52705" y="5143500"/>
            <a:ext cx="10635295" cy="2571750"/>
            <a:chOff x="0" y="0"/>
            <a:chExt cx="2814124" cy="680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52705" y="2571750"/>
            <a:ext cx="10635295" cy="2571750"/>
            <a:chOff x="0" y="0"/>
            <a:chExt cx="2814124" cy="6804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766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52705" y="7715250"/>
            <a:ext cx="10635295" cy="2571750"/>
            <a:chOff x="0" y="0"/>
            <a:chExt cx="2814124" cy="680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D6483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14209" t="0" r="14209" b="0"/>
          <a:stretch>
            <a:fillRect/>
          </a:stretch>
        </p:blipFill>
        <p:spPr>
          <a:xfrm flipH="false" flipV="false" rot="0">
            <a:off x="688966" y="2571750"/>
            <a:ext cx="6220385" cy="6758906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0442613" y="1119077"/>
            <a:ext cx="6420217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1000+ dark stores as of March 2026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442613" y="454867"/>
            <a:ext cx="6316031" cy="100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🌍 Largest Network</a:t>
            </a:r>
          </a:p>
          <a:p>
            <a:pPr algn="l">
              <a:lnSpc>
                <a:spcPts val="397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292798" y="331130"/>
            <a:ext cx="1722742" cy="12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42613" y="6262577"/>
            <a:ext cx="6420217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Zepto Pass – Free delivery &amp; Discounts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442613" y="5598367"/>
            <a:ext cx="6316031" cy="100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🏅</a:t>
            </a:r>
            <a:r>
              <a:rPr lang="en-US" sz="2842" spc="2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2842" spc="2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ubcription</a:t>
            </a:r>
          </a:p>
          <a:p>
            <a:pPr algn="l">
              <a:lnSpc>
                <a:spcPts val="39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292798" y="5474630"/>
            <a:ext cx="1722742" cy="12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42613" y="3847235"/>
            <a:ext cx="6420217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 in 10-min, Real-time tracking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442613" y="3183025"/>
            <a:ext cx="6316031" cy="100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⚡</a:t>
            </a:r>
            <a:r>
              <a:rPr lang="en-US" sz="2842" spc="2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</a:t>
            </a:r>
            <a:r>
              <a:rPr lang="en-US" sz="2842" spc="2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 Delivery </a:t>
            </a:r>
          </a:p>
          <a:p>
            <a:pPr algn="l">
              <a:lnSpc>
                <a:spcPts val="397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292798" y="3059288"/>
            <a:ext cx="1722742" cy="12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42613" y="8867430"/>
            <a:ext cx="6420217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Trusted Brand – Zepto /Strong Brand Recognition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442613" y="8326525"/>
            <a:ext cx="6316031" cy="100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⭐</a:t>
            </a:r>
            <a:r>
              <a:rPr lang="en-US" sz="2842" spc="2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Trusted Brand</a:t>
            </a:r>
          </a:p>
          <a:p>
            <a:pPr algn="l">
              <a:lnSpc>
                <a:spcPts val="397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8292798" y="8202788"/>
            <a:ext cx="1722742" cy="12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8966" y="881915"/>
            <a:ext cx="6783280" cy="124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0"/>
              </a:lnSpc>
            </a:pPr>
            <a:r>
              <a:rPr lang="en-US" sz="4500" spc="-153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Selling Proposition (USP)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37981" y="2280666"/>
            <a:ext cx="5696502" cy="625936"/>
            <a:chOff x="0" y="0"/>
            <a:chExt cx="2341308" cy="257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1308" cy="257265"/>
            </a:xfrm>
            <a:custGeom>
              <a:avLst/>
              <a:gdLst/>
              <a:ahLst/>
              <a:cxnLst/>
              <a:rect r="r" b="b" t="t" l="l"/>
              <a:pathLst>
                <a:path h="257265" w="2341308">
                  <a:moveTo>
                    <a:pt x="20386" y="0"/>
                  </a:moveTo>
                  <a:lnTo>
                    <a:pt x="2320922" y="0"/>
                  </a:lnTo>
                  <a:cubicBezTo>
                    <a:pt x="2332181" y="0"/>
                    <a:pt x="2341308" y="9127"/>
                    <a:pt x="2341308" y="20386"/>
                  </a:cubicBezTo>
                  <a:lnTo>
                    <a:pt x="2341308" y="236879"/>
                  </a:lnTo>
                  <a:cubicBezTo>
                    <a:pt x="2341308" y="248138"/>
                    <a:pt x="2332181" y="257265"/>
                    <a:pt x="2320922" y="257265"/>
                  </a:cubicBezTo>
                  <a:lnTo>
                    <a:pt x="20386" y="257265"/>
                  </a:lnTo>
                  <a:cubicBezTo>
                    <a:pt x="14979" y="257265"/>
                    <a:pt x="9794" y="255117"/>
                    <a:pt x="5971" y="251294"/>
                  </a:cubicBezTo>
                  <a:cubicBezTo>
                    <a:pt x="2148" y="247471"/>
                    <a:pt x="0" y="242286"/>
                    <a:pt x="0" y="236879"/>
                  </a:cubicBezTo>
                  <a:lnTo>
                    <a:pt x="0" y="20386"/>
                  </a:lnTo>
                  <a:cubicBezTo>
                    <a:pt x="0" y="14979"/>
                    <a:pt x="2148" y="9794"/>
                    <a:pt x="5971" y="5971"/>
                  </a:cubicBezTo>
                  <a:cubicBezTo>
                    <a:pt x="9794" y="2148"/>
                    <a:pt x="14979" y="0"/>
                    <a:pt x="20386" y="0"/>
                  </a:cubicBezTo>
                  <a:close/>
                </a:path>
              </a:pathLst>
            </a:custGeom>
            <a:solidFill>
              <a:srgbClr val="E182B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341308" cy="257265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29325" y="2280666"/>
            <a:ext cx="5696502" cy="625936"/>
            <a:chOff x="0" y="0"/>
            <a:chExt cx="2341308" cy="2572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1308" cy="257265"/>
            </a:xfrm>
            <a:custGeom>
              <a:avLst/>
              <a:gdLst/>
              <a:ahLst/>
              <a:cxnLst/>
              <a:rect r="r" b="b" t="t" l="l"/>
              <a:pathLst>
                <a:path h="257265" w="2341308">
                  <a:moveTo>
                    <a:pt x="20386" y="0"/>
                  </a:moveTo>
                  <a:lnTo>
                    <a:pt x="2320922" y="0"/>
                  </a:lnTo>
                  <a:cubicBezTo>
                    <a:pt x="2332181" y="0"/>
                    <a:pt x="2341308" y="9127"/>
                    <a:pt x="2341308" y="20386"/>
                  </a:cubicBezTo>
                  <a:lnTo>
                    <a:pt x="2341308" y="236879"/>
                  </a:lnTo>
                  <a:cubicBezTo>
                    <a:pt x="2341308" y="248138"/>
                    <a:pt x="2332181" y="257265"/>
                    <a:pt x="2320922" y="257265"/>
                  </a:cubicBezTo>
                  <a:lnTo>
                    <a:pt x="20386" y="257265"/>
                  </a:lnTo>
                  <a:cubicBezTo>
                    <a:pt x="14979" y="257265"/>
                    <a:pt x="9794" y="255117"/>
                    <a:pt x="5971" y="251294"/>
                  </a:cubicBezTo>
                  <a:cubicBezTo>
                    <a:pt x="2148" y="247471"/>
                    <a:pt x="0" y="242286"/>
                    <a:pt x="0" y="236879"/>
                  </a:cubicBezTo>
                  <a:lnTo>
                    <a:pt x="0" y="20386"/>
                  </a:lnTo>
                  <a:cubicBezTo>
                    <a:pt x="0" y="14979"/>
                    <a:pt x="2148" y="9794"/>
                    <a:pt x="5971" y="5971"/>
                  </a:cubicBezTo>
                  <a:cubicBezTo>
                    <a:pt x="9794" y="2148"/>
                    <a:pt x="14979" y="0"/>
                    <a:pt x="20386" y="0"/>
                  </a:cubicBezTo>
                  <a:close/>
                </a:path>
              </a:pathLst>
            </a:custGeom>
            <a:solidFill>
              <a:srgbClr val="94CC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341308" cy="266790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3042"/>
                </a:lnSpc>
              </a:pPr>
              <a:r>
                <a:rPr lang="en-US" b="true" sz="26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After Zepto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0515" y="3151140"/>
            <a:ext cx="2699779" cy="1056370"/>
            <a:chOff x="0" y="0"/>
            <a:chExt cx="1109631" cy="4341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9631" cy="434176"/>
            </a:xfrm>
            <a:custGeom>
              <a:avLst/>
              <a:gdLst/>
              <a:ahLst/>
              <a:cxnLst/>
              <a:rect r="r" b="b" t="t" l="l"/>
              <a:pathLst>
                <a:path h="434176" w="1109631">
                  <a:moveTo>
                    <a:pt x="43014" y="0"/>
                  </a:moveTo>
                  <a:lnTo>
                    <a:pt x="1066617" y="0"/>
                  </a:lnTo>
                  <a:cubicBezTo>
                    <a:pt x="1090373" y="0"/>
                    <a:pt x="1109631" y="19258"/>
                    <a:pt x="1109631" y="43014"/>
                  </a:cubicBezTo>
                  <a:lnTo>
                    <a:pt x="1109631" y="391162"/>
                  </a:lnTo>
                  <a:cubicBezTo>
                    <a:pt x="1109631" y="414918"/>
                    <a:pt x="1090373" y="434176"/>
                    <a:pt x="1066617" y="434176"/>
                  </a:cubicBezTo>
                  <a:lnTo>
                    <a:pt x="43014" y="434176"/>
                  </a:lnTo>
                  <a:cubicBezTo>
                    <a:pt x="19258" y="434176"/>
                    <a:pt x="0" y="414918"/>
                    <a:pt x="0" y="391162"/>
                  </a:cubicBezTo>
                  <a:lnTo>
                    <a:pt x="0" y="43014"/>
                  </a:lnTo>
                  <a:cubicBezTo>
                    <a:pt x="0" y="19258"/>
                    <a:pt x="19258" y="0"/>
                    <a:pt x="43014" y="0"/>
                  </a:cubicBezTo>
                  <a:close/>
                </a:path>
              </a:pathLst>
            </a:custGeom>
            <a:solidFill>
              <a:srgbClr val="DCDDE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109631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6521" y="4426297"/>
            <a:ext cx="2699779" cy="1056370"/>
            <a:chOff x="0" y="0"/>
            <a:chExt cx="1109631" cy="4341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9631" cy="434176"/>
            </a:xfrm>
            <a:custGeom>
              <a:avLst/>
              <a:gdLst/>
              <a:ahLst/>
              <a:cxnLst/>
              <a:rect r="r" b="b" t="t" l="l"/>
              <a:pathLst>
                <a:path h="434176" w="1109631">
                  <a:moveTo>
                    <a:pt x="57352" y="0"/>
                  </a:moveTo>
                  <a:lnTo>
                    <a:pt x="1052279" y="0"/>
                  </a:lnTo>
                  <a:cubicBezTo>
                    <a:pt x="1067489" y="0"/>
                    <a:pt x="1082077" y="6042"/>
                    <a:pt x="1092833" y="16798"/>
                  </a:cubicBezTo>
                  <a:cubicBezTo>
                    <a:pt x="1103588" y="27554"/>
                    <a:pt x="1109631" y="42141"/>
                    <a:pt x="1109631" y="57352"/>
                  </a:cubicBezTo>
                  <a:lnTo>
                    <a:pt x="1109631" y="376824"/>
                  </a:lnTo>
                  <a:cubicBezTo>
                    <a:pt x="1109631" y="408499"/>
                    <a:pt x="1083953" y="434176"/>
                    <a:pt x="1052279" y="434176"/>
                  </a:cubicBezTo>
                  <a:lnTo>
                    <a:pt x="57352" y="434176"/>
                  </a:lnTo>
                  <a:cubicBezTo>
                    <a:pt x="42141" y="434176"/>
                    <a:pt x="27554" y="428134"/>
                    <a:pt x="16798" y="417378"/>
                  </a:cubicBezTo>
                  <a:cubicBezTo>
                    <a:pt x="6042" y="406623"/>
                    <a:pt x="0" y="392035"/>
                    <a:pt x="0" y="376824"/>
                  </a:cubicBezTo>
                  <a:lnTo>
                    <a:pt x="0" y="57352"/>
                  </a:lnTo>
                  <a:cubicBezTo>
                    <a:pt x="0" y="42141"/>
                    <a:pt x="6042" y="27554"/>
                    <a:pt x="16798" y="16798"/>
                  </a:cubicBezTo>
                  <a:cubicBezTo>
                    <a:pt x="27554" y="6042"/>
                    <a:pt x="42141" y="0"/>
                    <a:pt x="57352" y="0"/>
                  </a:cubicBezTo>
                  <a:close/>
                </a:path>
              </a:pathLst>
            </a:custGeom>
            <a:solidFill>
              <a:srgbClr val="DCDDE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109631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2526" y="5701454"/>
            <a:ext cx="2699779" cy="1056370"/>
            <a:chOff x="0" y="0"/>
            <a:chExt cx="1109631" cy="434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9631" cy="434176"/>
            </a:xfrm>
            <a:custGeom>
              <a:avLst/>
              <a:gdLst/>
              <a:ahLst/>
              <a:cxnLst/>
              <a:rect r="r" b="b" t="t" l="l"/>
              <a:pathLst>
                <a:path h="434176" w="1109631">
                  <a:moveTo>
                    <a:pt x="57352" y="0"/>
                  </a:moveTo>
                  <a:lnTo>
                    <a:pt x="1052279" y="0"/>
                  </a:lnTo>
                  <a:cubicBezTo>
                    <a:pt x="1067489" y="0"/>
                    <a:pt x="1082077" y="6042"/>
                    <a:pt x="1092833" y="16798"/>
                  </a:cubicBezTo>
                  <a:cubicBezTo>
                    <a:pt x="1103588" y="27554"/>
                    <a:pt x="1109631" y="42141"/>
                    <a:pt x="1109631" y="57352"/>
                  </a:cubicBezTo>
                  <a:lnTo>
                    <a:pt x="1109631" y="376824"/>
                  </a:lnTo>
                  <a:cubicBezTo>
                    <a:pt x="1109631" y="408499"/>
                    <a:pt x="1083953" y="434176"/>
                    <a:pt x="1052279" y="434176"/>
                  </a:cubicBezTo>
                  <a:lnTo>
                    <a:pt x="57352" y="434176"/>
                  </a:lnTo>
                  <a:cubicBezTo>
                    <a:pt x="42141" y="434176"/>
                    <a:pt x="27554" y="428134"/>
                    <a:pt x="16798" y="417378"/>
                  </a:cubicBezTo>
                  <a:cubicBezTo>
                    <a:pt x="6042" y="406623"/>
                    <a:pt x="0" y="392035"/>
                    <a:pt x="0" y="376824"/>
                  </a:cubicBezTo>
                  <a:lnTo>
                    <a:pt x="0" y="57352"/>
                  </a:lnTo>
                  <a:cubicBezTo>
                    <a:pt x="0" y="42141"/>
                    <a:pt x="6042" y="27554"/>
                    <a:pt x="16798" y="16798"/>
                  </a:cubicBezTo>
                  <a:cubicBezTo>
                    <a:pt x="27554" y="6042"/>
                    <a:pt x="42141" y="0"/>
                    <a:pt x="57352" y="0"/>
                  </a:cubicBezTo>
                  <a:close/>
                </a:path>
              </a:pathLst>
            </a:custGeom>
            <a:solidFill>
              <a:srgbClr val="DCDDE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9631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8531" y="6976611"/>
            <a:ext cx="2699779" cy="1056370"/>
            <a:chOff x="0" y="0"/>
            <a:chExt cx="1109631" cy="434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9631" cy="434176"/>
            </a:xfrm>
            <a:custGeom>
              <a:avLst/>
              <a:gdLst/>
              <a:ahLst/>
              <a:cxnLst/>
              <a:rect r="r" b="b" t="t" l="l"/>
              <a:pathLst>
                <a:path h="434176" w="1109631">
                  <a:moveTo>
                    <a:pt x="57352" y="0"/>
                  </a:moveTo>
                  <a:lnTo>
                    <a:pt x="1052279" y="0"/>
                  </a:lnTo>
                  <a:cubicBezTo>
                    <a:pt x="1067489" y="0"/>
                    <a:pt x="1082077" y="6042"/>
                    <a:pt x="1092833" y="16798"/>
                  </a:cubicBezTo>
                  <a:cubicBezTo>
                    <a:pt x="1103588" y="27554"/>
                    <a:pt x="1109631" y="42141"/>
                    <a:pt x="1109631" y="57352"/>
                  </a:cubicBezTo>
                  <a:lnTo>
                    <a:pt x="1109631" y="376824"/>
                  </a:lnTo>
                  <a:cubicBezTo>
                    <a:pt x="1109631" y="408499"/>
                    <a:pt x="1083953" y="434176"/>
                    <a:pt x="1052279" y="434176"/>
                  </a:cubicBezTo>
                  <a:lnTo>
                    <a:pt x="57352" y="434176"/>
                  </a:lnTo>
                  <a:cubicBezTo>
                    <a:pt x="42141" y="434176"/>
                    <a:pt x="27554" y="428134"/>
                    <a:pt x="16798" y="417378"/>
                  </a:cubicBezTo>
                  <a:cubicBezTo>
                    <a:pt x="6042" y="406623"/>
                    <a:pt x="0" y="392035"/>
                    <a:pt x="0" y="376824"/>
                  </a:cubicBezTo>
                  <a:lnTo>
                    <a:pt x="0" y="57352"/>
                  </a:lnTo>
                  <a:cubicBezTo>
                    <a:pt x="0" y="42141"/>
                    <a:pt x="6042" y="27554"/>
                    <a:pt x="16798" y="16798"/>
                  </a:cubicBezTo>
                  <a:cubicBezTo>
                    <a:pt x="27554" y="6042"/>
                    <a:pt x="42141" y="0"/>
                    <a:pt x="57352" y="0"/>
                  </a:cubicBezTo>
                  <a:close/>
                </a:path>
              </a:pathLst>
            </a:custGeom>
            <a:solidFill>
              <a:srgbClr val="DCDDE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09631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45036" y="3164357"/>
            <a:ext cx="5689447" cy="1056370"/>
            <a:chOff x="0" y="0"/>
            <a:chExt cx="2338408" cy="434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E182BE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37981" y="4422231"/>
            <a:ext cx="5689447" cy="1056370"/>
            <a:chOff x="0" y="0"/>
            <a:chExt cx="2338408" cy="4341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E182B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55390" y="5697388"/>
            <a:ext cx="5689447" cy="1056370"/>
            <a:chOff x="0" y="0"/>
            <a:chExt cx="2338408" cy="4341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E182BE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30927" y="6972545"/>
            <a:ext cx="5689447" cy="1056370"/>
            <a:chOff x="0" y="0"/>
            <a:chExt cx="2338408" cy="4341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E182BE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36379" y="3164357"/>
            <a:ext cx="5689447" cy="1056370"/>
            <a:chOff x="0" y="0"/>
            <a:chExt cx="2338408" cy="4341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94CCA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29325" y="4422231"/>
            <a:ext cx="5689447" cy="1056370"/>
            <a:chOff x="0" y="0"/>
            <a:chExt cx="2338408" cy="4341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94CCA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22270" y="5697388"/>
            <a:ext cx="5689447" cy="1056370"/>
            <a:chOff x="0" y="0"/>
            <a:chExt cx="2338408" cy="4341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94CCA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122270" y="6972545"/>
            <a:ext cx="5689447" cy="1056370"/>
            <a:chOff x="0" y="0"/>
            <a:chExt cx="2338408" cy="4341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94CCA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40515" y="8251768"/>
            <a:ext cx="2699779" cy="1056370"/>
            <a:chOff x="0" y="0"/>
            <a:chExt cx="1109631" cy="4341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9631" cy="434176"/>
            </a:xfrm>
            <a:custGeom>
              <a:avLst/>
              <a:gdLst/>
              <a:ahLst/>
              <a:cxnLst/>
              <a:rect r="r" b="b" t="t" l="l"/>
              <a:pathLst>
                <a:path h="434176" w="1109631">
                  <a:moveTo>
                    <a:pt x="43014" y="0"/>
                  </a:moveTo>
                  <a:lnTo>
                    <a:pt x="1066617" y="0"/>
                  </a:lnTo>
                  <a:cubicBezTo>
                    <a:pt x="1090373" y="0"/>
                    <a:pt x="1109631" y="19258"/>
                    <a:pt x="1109631" y="43014"/>
                  </a:cubicBezTo>
                  <a:lnTo>
                    <a:pt x="1109631" y="391162"/>
                  </a:lnTo>
                  <a:cubicBezTo>
                    <a:pt x="1109631" y="414918"/>
                    <a:pt x="1090373" y="434176"/>
                    <a:pt x="1066617" y="434176"/>
                  </a:cubicBezTo>
                  <a:lnTo>
                    <a:pt x="43014" y="434176"/>
                  </a:lnTo>
                  <a:cubicBezTo>
                    <a:pt x="19258" y="434176"/>
                    <a:pt x="0" y="414918"/>
                    <a:pt x="0" y="391162"/>
                  </a:cubicBezTo>
                  <a:lnTo>
                    <a:pt x="0" y="43014"/>
                  </a:lnTo>
                  <a:cubicBezTo>
                    <a:pt x="0" y="19258"/>
                    <a:pt x="19258" y="0"/>
                    <a:pt x="43014" y="0"/>
                  </a:cubicBezTo>
                  <a:close/>
                </a:path>
              </a:pathLst>
            </a:custGeom>
            <a:solidFill>
              <a:srgbClr val="DCDDE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109631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852090" y="8247702"/>
            <a:ext cx="5689447" cy="1056370"/>
            <a:chOff x="0" y="0"/>
            <a:chExt cx="2338408" cy="4341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E182BE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143434" y="8247702"/>
            <a:ext cx="5689447" cy="1056370"/>
            <a:chOff x="0" y="0"/>
            <a:chExt cx="2338408" cy="4341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38408" cy="434176"/>
            </a:xfrm>
            <a:custGeom>
              <a:avLst/>
              <a:gdLst/>
              <a:ahLst/>
              <a:cxnLst/>
              <a:rect r="r" b="b" t="t" l="l"/>
              <a:pathLst>
                <a:path h="434176" w="2338408">
                  <a:moveTo>
                    <a:pt x="20411" y="0"/>
                  </a:moveTo>
                  <a:lnTo>
                    <a:pt x="2317997" y="0"/>
                  </a:lnTo>
                  <a:cubicBezTo>
                    <a:pt x="2329270" y="0"/>
                    <a:pt x="2338408" y="9138"/>
                    <a:pt x="2338408" y="20411"/>
                  </a:cubicBezTo>
                  <a:lnTo>
                    <a:pt x="2338408" y="413765"/>
                  </a:lnTo>
                  <a:cubicBezTo>
                    <a:pt x="2338408" y="425038"/>
                    <a:pt x="2329270" y="434176"/>
                    <a:pt x="2317997" y="434176"/>
                  </a:cubicBezTo>
                  <a:lnTo>
                    <a:pt x="20411" y="434176"/>
                  </a:lnTo>
                  <a:cubicBezTo>
                    <a:pt x="9138" y="434176"/>
                    <a:pt x="0" y="425038"/>
                    <a:pt x="0" y="413765"/>
                  </a:cubicBezTo>
                  <a:lnTo>
                    <a:pt x="0" y="20411"/>
                  </a:lnTo>
                  <a:cubicBezTo>
                    <a:pt x="0" y="9138"/>
                    <a:pt x="9138" y="0"/>
                    <a:pt x="20411" y="0"/>
                  </a:cubicBezTo>
                  <a:close/>
                </a:path>
              </a:pathLst>
            </a:custGeom>
            <a:solidFill>
              <a:srgbClr val="FEFEFE"/>
            </a:solidFill>
            <a:ln w="28575" cap="sq">
              <a:solidFill>
                <a:srgbClr val="94CCAD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338408" cy="434176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16546" y="2347050"/>
            <a:ext cx="2723749" cy="625936"/>
            <a:chOff x="0" y="0"/>
            <a:chExt cx="1119483" cy="2572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19483" cy="257265"/>
            </a:xfrm>
            <a:custGeom>
              <a:avLst/>
              <a:gdLst/>
              <a:ahLst/>
              <a:cxnLst/>
              <a:rect r="r" b="b" t="t" l="l"/>
              <a:pathLst>
                <a:path h="257265" w="1119483">
                  <a:moveTo>
                    <a:pt x="42636" y="0"/>
                  </a:moveTo>
                  <a:lnTo>
                    <a:pt x="1076847" y="0"/>
                  </a:lnTo>
                  <a:cubicBezTo>
                    <a:pt x="1088155" y="0"/>
                    <a:pt x="1098999" y="4492"/>
                    <a:pt x="1106995" y="12488"/>
                  </a:cubicBezTo>
                  <a:cubicBezTo>
                    <a:pt x="1114991" y="20483"/>
                    <a:pt x="1119483" y="31328"/>
                    <a:pt x="1119483" y="42636"/>
                  </a:cubicBezTo>
                  <a:lnTo>
                    <a:pt x="1119483" y="214629"/>
                  </a:lnTo>
                  <a:cubicBezTo>
                    <a:pt x="1119483" y="225937"/>
                    <a:pt x="1114991" y="236781"/>
                    <a:pt x="1106995" y="244777"/>
                  </a:cubicBezTo>
                  <a:cubicBezTo>
                    <a:pt x="1098999" y="252773"/>
                    <a:pt x="1088155" y="257265"/>
                    <a:pt x="1076847" y="257265"/>
                  </a:cubicBezTo>
                  <a:lnTo>
                    <a:pt x="42636" y="257265"/>
                  </a:lnTo>
                  <a:cubicBezTo>
                    <a:pt x="31328" y="257265"/>
                    <a:pt x="20483" y="252773"/>
                    <a:pt x="12488" y="244777"/>
                  </a:cubicBezTo>
                  <a:cubicBezTo>
                    <a:pt x="4492" y="236781"/>
                    <a:pt x="0" y="225937"/>
                    <a:pt x="0" y="214629"/>
                  </a:cubicBezTo>
                  <a:lnTo>
                    <a:pt x="0" y="42636"/>
                  </a:lnTo>
                  <a:cubicBezTo>
                    <a:pt x="0" y="31328"/>
                    <a:pt x="4492" y="20483"/>
                    <a:pt x="12488" y="12488"/>
                  </a:cubicBezTo>
                  <a:cubicBezTo>
                    <a:pt x="20483" y="4492"/>
                    <a:pt x="31328" y="0"/>
                    <a:pt x="42636" y="0"/>
                  </a:cubicBezTo>
                  <a:close/>
                </a:path>
              </a:pathLst>
            </a:custGeom>
            <a:solidFill>
              <a:srgbClr val="DCDDE3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119483" cy="266790"/>
            </a:xfrm>
            <a:prstGeom prst="rect">
              <a:avLst/>
            </a:prstGeom>
          </p:spPr>
          <p:txBody>
            <a:bodyPr anchor="ctr" rtlCol="false" tIns="38100" lIns="38100" bIns="38100" rIns="38100"/>
            <a:lstStyle/>
            <a:p>
              <a:pPr algn="ctr">
                <a:lnSpc>
                  <a:spcPts val="3042"/>
                </a:lnSpc>
              </a:pPr>
              <a:r>
                <a:rPr lang="en-US" b="true" sz="26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Benefits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891325" y="3412711"/>
            <a:ext cx="611393" cy="567792"/>
            <a:chOff x="0" y="0"/>
            <a:chExt cx="476043" cy="44209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6427" cy="442094"/>
            </a:xfrm>
            <a:custGeom>
              <a:avLst/>
              <a:gdLst/>
              <a:ahLst/>
              <a:cxnLst/>
              <a:rect r="r" b="b" t="t" l="l"/>
              <a:pathLst>
                <a:path h="442094" w="446427">
                  <a:moveTo>
                    <a:pt x="196866" y="0"/>
                  </a:moveTo>
                  <a:lnTo>
                    <a:pt x="75976" y="0"/>
                  </a:lnTo>
                  <a:cubicBezTo>
                    <a:pt x="34016" y="0"/>
                    <a:pt x="0" y="34016"/>
                    <a:pt x="0" y="75976"/>
                  </a:cubicBezTo>
                  <a:lnTo>
                    <a:pt x="0" y="366117"/>
                  </a:lnTo>
                  <a:cubicBezTo>
                    <a:pt x="0" y="408078"/>
                    <a:pt x="34016" y="442094"/>
                    <a:pt x="75976" y="442094"/>
                  </a:cubicBezTo>
                  <a:lnTo>
                    <a:pt x="196866" y="442094"/>
                  </a:lnTo>
                  <a:cubicBezTo>
                    <a:pt x="245286" y="442094"/>
                    <a:pt x="291492" y="421807"/>
                    <a:pt x="324261" y="386160"/>
                  </a:cubicBezTo>
                  <a:lnTo>
                    <a:pt x="424625" y="276981"/>
                  </a:lnTo>
                  <a:cubicBezTo>
                    <a:pt x="453695" y="245357"/>
                    <a:pt x="453695" y="196736"/>
                    <a:pt x="424625" y="165113"/>
                  </a:cubicBezTo>
                  <a:lnTo>
                    <a:pt x="324261" y="55934"/>
                  </a:lnTo>
                  <a:cubicBezTo>
                    <a:pt x="291492" y="20287"/>
                    <a:pt x="245286" y="0"/>
                    <a:pt x="196866" y="0"/>
                  </a:cubicBezTo>
                  <a:close/>
                </a:path>
              </a:pathLst>
            </a:custGeom>
            <a:solidFill>
              <a:srgbClr val="6262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61743" cy="442094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4852090" y="2429540"/>
            <a:ext cx="5689447" cy="40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2"/>
              </a:lnSpc>
            </a:pPr>
            <a:r>
              <a:rPr lang="en-US" b="true" sz="2600" spc="8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Before Zepto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32526" y="3536244"/>
            <a:ext cx="269179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</a:pPr>
            <a:r>
              <a:rPr lang="en-US" b="true" sz="2000" spc="66">
                <a:solidFill>
                  <a:srgbClr val="191337"/>
                </a:solidFill>
                <a:latin typeface="Arial Bold"/>
                <a:ea typeface="Arial Bold"/>
                <a:cs typeface="Arial Bold"/>
                <a:sym typeface="Arial Bold"/>
              </a:rPr>
              <a:t>Time saved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40515" y="4663764"/>
            <a:ext cx="2483066" cy="59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</a:pPr>
            <a:r>
              <a:rPr lang="en-US" b="true" sz="2000" spc="66">
                <a:solidFill>
                  <a:srgbClr val="191337"/>
                </a:solidFill>
                <a:latin typeface="Arial Bold"/>
                <a:ea typeface="Arial Bold"/>
                <a:cs typeface="Arial Bold"/>
                <a:sym typeface="Arial Bold"/>
              </a:rPr>
              <a:t>Great deals </a:t>
            </a:r>
          </a:p>
          <a:p>
            <a:pPr algn="ctr" marL="0" indent="0" lvl="0">
              <a:lnSpc>
                <a:spcPts val="2340"/>
              </a:lnSpc>
            </a:pPr>
            <a:r>
              <a:rPr lang="en-US" b="true" sz="2000" spc="66">
                <a:solidFill>
                  <a:srgbClr val="191337"/>
                </a:solidFill>
                <a:latin typeface="Arial Bold"/>
                <a:ea typeface="Arial Bold"/>
                <a:cs typeface="Arial Bold"/>
                <a:sym typeface="Arial Bold"/>
              </a:rPr>
              <a:t>&amp; offers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36521" y="5937989"/>
            <a:ext cx="2691790" cy="59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</a:pPr>
            <a:r>
              <a:rPr lang="en-US" b="true" sz="2000" spc="66">
                <a:solidFill>
                  <a:srgbClr val="191337"/>
                </a:solidFill>
                <a:latin typeface="Arial Bold"/>
                <a:ea typeface="Arial Bold"/>
                <a:cs typeface="Arial Bold"/>
                <a:sym typeface="Arial Bold"/>
              </a:rPr>
              <a:t>Bette</a:t>
            </a:r>
            <a:r>
              <a:rPr lang="en-US" b="true" sz="2000" spc="66">
                <a:solidFill>
                  <a:srgbClr val="191337"/>
                </a:solidFill>
                <a:latin typeface="Arial Bold"/>
                <a:ea typeface="Arial Bold"/>
                <a:cs typeface="Arial Bold"/>
                <a:sym typeface="Arial Bold"/>
              </a:rPr>
              <a:t>r choices</a:t>
            </a:r>
          </a:p>
          <a:p>
            <a:pPr algn="ctr" marL="0" indent="0" lvl="0">
              <a:lnSpc>
                <a:spcPts val="2340"/>
              </a:lnSpc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1432526" y="7205710"/>
            <a:ext cx="2691790" cy="59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</a:pPr>
            <a:r>
              <a:rPr lang="en-US" b="true" sz="2000" spc="66">
                <a:solidFill>
                  <a:srgbClr val="191337"/>
                </a:solidFill>
                <a:latin typeface="Arial Bold"/>
                <a:ea typeface="Arial Bold"/>
                <a:cs typeface="Arial Bold"/>
                <a:sym typeface="Arial Bold"/>
              </a:rPr>
              <a:t>E</a:t>
            </a:r>
            <a:r>
              <a:rPr lang="en-US" b="true" sz="2000" spc="66">
                <a:solidFill>
                  <a:srgbClr val="191337"/>
                </a:solidFill>
                <a:latin typeface="Arial Bold"/>
                <a:ea typeface="Arial Bold"/>
                <a:cs typeface="Arial Bold"/>
                <a:sym typeface="Arial Bold"/>
              </a:rPr>
              <a:t>asy Price Comparison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44510" y="8646421"/>
            <a:ext cx="269179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0"/>
              </a:lnSpc>
            </a:pPr>
            <a:r>
              <a:rPr lang="en-US" b="true" sz="2000" spc="66">
                <a:solidFill>
                  <a:srgbClr val="191337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b="true" sz="2000" spc="66">
                <a:solidFill>
                  <a:srgbClr val="191337"/>
                </a:solidFill>
                <a:latin typeface="Arial Bold"/>
                <a:ea typeface="Arial Bold"/>
                <a:cs typeface="Arial Bold"/>
                <a:sym typeface="Arial Bold"/>
              </a:rPr>
              <a:t>onvenient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12105" y="923925"/>
            <a:ext cx="1686379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0"/>
              </a:lnSpc>
            </a:pPr>
            <a:r>
              <a:rPr lang="en-US" b="true" sz="5000" spc="-365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</a:t>
            </a:r>
            <a:r>
              <a:rPr lang="en-US" b="true" sz="5000" spc="-365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ARKET GAP &amp; CUSTOMER NEED ANALYSIS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176262" y="3522680"/>
            <a:ext cx="509003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Limited shopping hours at physical stores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443142" y="4801353"/>
            <a:ext cx="509003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nstant or last-minute purchases.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155098" y="7170189"/>
            <a:ext cx="5090031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ustomers carried groceries home themselves.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421978" y="8606025"/>
            <a:ext cx="509003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Ap</a:t>
            </a: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p-based offers, coupons and promotions.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3891325" y="4670585"/>
            <a:ext cx="611393" cy="567792"/>
            <a:chOff x="0" y="0"/>
            <a:chExt cx="476043" cy="44209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46427" cy="442094"/>
            </a:xfrm>
            <a:custGeom>
              <a:avLst/>
              <a:gdLst/>
              <a:ahLst/>
              <a:cxnLst/>
              <a:rect r="r" b="b" t="t" l="l"/>
              <a:pathLst>
                <a:path h="442094" w="446427">
                  <a:moveTo>
                    <a:pt x="196866" y="0"/>
                  </a:moveTo>
                  <a:lnTo>
                    <a:pt x="75976" y="0"/>
                  </a:lnTo>
                  <a:cubicBezTo>
                    <a:pt x="34016" y="0"/>
                    <a:pt x="0" y="34016"/>
                    <a:pt x="0" y="75976"/>
                  </a:cubicBezTo>
                  <a:lnTo>
                    <a:pt x="0" y="366117"/>
                  </a:lnTo>
                  <a:cubicBezTo>
                    <a:pt x="0" y="408078"/>
                    <a:pt x="34016" y="442094"/>
                    <a:pt x="75976" y="442094"/>
                  </a:cubicBezTo>
                  <a:lnTo>
                    <a:pt x="196866" y="442094"/>
                  </a:lnTo>
                  <a:cubicBezTo>
                    <a:pt x="245286" y="442094"/>
                    <a:pt x="291492" y="421807"/>
                    <a:pt x="324261" y="386160"/>
                  </a:cubicBezTo>
                  <a:lnTo>
                    <a:pt x="424625" y="276981"/>
                  </a:lnTo>
                  <a:cubicBezTo>
                    <a:pt x="453695" y="245357"/>
                    <a:pt x="453695" y="196736"/>
                    <a:pt x="424625" y="165113"/>
                  </a:cubicBezTo>
                  <a:lnTo>
                    <a:pt x="324261" y="55934"/>
                  </a:lnTo>
                  <a:cubicBezTo>
                    <a:pt x="291492" y="20287"/>
                    <a:pt x="245286" y="0"/>
                    <a:pt x="196866" y="0"/>
                  </a:cubicBezTo>
                  <a:close/>
                </a:path>
              </a:pathLst>
            </a:custGeom>
            <a:solidFill>
              <a:srgbClr val="626262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61743" cy="442094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891325" y="5928460"/>
            <a:ext cx="611393" cy="567792"/>
            <a:chOff x="0" y="0"/>
            <a:chExt cx="476043" cy="44209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46427" cy="442094"/>
            </a:xfrm>
            <a:custGeom>
              <a:avLst/>
              <a:gdLst/>
              <a:ahLst/>
              <a:cxnLst/>
              <a:rect r="r" b="b" t="t" l="l"/>
              <a:pathLst>
                <a:path h="442094" w="446427">
                  <a:moveTo>
                    <a:pt x="196866" y="0"/>
                  </a:moveTo>
                  <a:lnTo>
                    <a:pt x="75976" y="0"/>
                  </a:lnTo>
                  <a:cubicBezTo>
                    <a:pt x="34016" y="0"/>
                    <a:pt x="0" y="34016"/>
                    <a:pt x="0" y="75976"/>
                  </a:cubicBezTo>
                  <a:lnTo>
                    <a:pt x="0" y="366117"/>
                  </a:lnTo>
                  <a:cubicBezTo>
                    <a:pt x="0" y="408078"/>
                    <a:pt x="34016" y="442094"/>
                    <a:pt x="75976" y="442094"/>
                  </a:cubicBezTo>
                  <a:lnTo>
                    <a:pt x="196866" y="442094"/>
                  </a:lnTo>
                  <a:cubicBezTo>
                    <a:pt x="245286" y="442094"/>
                    <a:pt x="291492" y="421807"/>
                    <a:pt x="324261" y="386160"/>
                  </a:cubicBezTo>
                  <a:lnTo>
                    <a:pt x="424625" y="276981"/>
                  </a:lnTo>
                  <a:cubicBezTo>
                    <a:pt x="453695" y="245357"/>
                    <a:pt x="453695" y="196736"/>
                    <a:pt x="424625" y="165113"/>
                  </a:cubicBezTo>
                  <a:lnTo>
                    <a:pt x="324261" y="55934"/>
                  </a:lnTo>
                  <a:cubicBezTo>
                    <a:pt x="291492" y="20287"/>
                    <a:pt x="245286" y="0"/>
                    <a:pt x="196866" y="0"/>
                  </a:cubicBezTo>
                  <a:close/>
                </a:path>
              </a:pathLst>
            </a:custGeom>
            <a:solidFill>
              <a:srgbClr val="626262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61743" cy="442094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3891325" y="7186334"/>
            <a:ext cx="611393" cy="567792"/>
            <a:chOff x="0" y="0"/>
            <a:chExt cx="476043" cy="44209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46427" cy="442094"/>
            </a:xfrm>
            <a:custGeom>
              <a:avLst/>
              <a:gdLst/>
              <a:ahLst/>
              <a:cxnLst/>
              <a:rect r="r" b="b" t="t" l="l"/>
              <a:pathLst>
                <a:path h="442094" w="446427">
                  <a:moveTo>
                    <a:pt x="196866" y="0"/>
                  </a:moveTo>
                  <a:lnTo>
                    <a:pt x="75976" y="0"/>
                  </a:lnTo>
                  <a:cubicBezTo>
                    <a:pt x="34016" y="0"/>
                    <a:pt x="0" y="34016"/>
                    <a:pt x="0" y="75976"/>
                  </a:cubicBezTo>
                  <a:lnTo>
                    <a:pt x="0" y="366117"/>
                  </a:lnTo>
                  <a:cubicBezTo>
                    <a:pt x="0" y="408078"/>
                    <a:pt x="34016" y="442094"/>
                    <a:pt x="75976" y="442094"/>
                  </a:cubicBezTo>
                  <a:lnTo>
                    <a:pt x="196866" y="442094"/>
                  </a:lnTo>
                  <a:cubicBezTo>
                    <a:pt x="245286" y="442094"/>
                    <a:pt x="291492" y="421807"/>
                    <a:pt x="324261" y="386160"/>
                  </a:cubicBezTo>
                  <a:lnTo>
                    <a:pt x="424625" y="276981"/>
                  </a:lnTo>
                  <a:cubicBezTo>
                    <a:pt x="453695" y="245357"/>
                    <a:pt x="453695" y="196736"/>
                    <a:pt x="424625" y="165113"/>
                  </a:cubicBezTo>
                  <a:lnTo>
                    <a:pt x="324261" y="55934"/>
                  </a:lnTo>
                  <a:cubicBezTo>
                    <a:pt x="291492" y="20287"/>
                    <a:pt x="245286" y="0"/>
                    <a:pt x="196866" y="0"/>
                  </a:cubicBezTo>
                  <a:close/>
                </a:path>
              </a:pathLst>
            </a:custGeom>
            <a:solidFill>
              <a:srgbClr val="626262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361743" cy="442094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891325" y="8513972"/>
            <a:ext cx="611393" cy="567792"/>
            <a:chOff x="0" y="0"/>
            <a:chExt cx="476043" cy="44209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46427" cy="442094"/>
            </a:xfrm>
            <a:custGeom>
              <a:avLst/>
              <a:gdLst/>
              <a:ahLst/>
              <a:cxnLst/>
              <a:rect r="r" b="b" t="t" l="l"/>
              <a:pathLst>
                <a:path h="442094" w="446427">
                  <a:moveTo>
                    <a:pt x="196866" y="0"/>
                  </a:moveTo>
                  <a:lnTo>
                    <a:pt x="75976" y="0"/>
                  </a:lnTo>
                  <a:cubicBezTo>
                    <a:pt x="34016" y="0"/>
                    <a:pt x="0" y="34016"/>
                    <a:pt x="0" y="75976"/>
                  </a:cubicBezTo>
                  <a:lnTo>
                    <a:pt x="0" y="366117"/>
                  </a:lnTo>
                  <a:cubicBezTo>
                    <a:pt x="0" y="408078"/>
                    <a:pt x="34016" y="442094"/>
                    <a:pt x="75976" y="442094"/>
                  </a:cubicBezTo>
                  <a:lnTo>
                    <a:pt x="196866" y="442094"/>
                  </a:lnTo>
                  <a:cubicBezTo>
                    <a:pt x="245286" y="442094"/>
                    <a:pt x="291492" y="421807"/>
                    <a:pt x="324261" y="386160"/>
                  </a:cubicBezTo>
                  <a:lnTo>
                    <a:pt x="424625" y="276981"/>
                  </a:lnTo>
                  <a:cubicBezTo>
                    <a:pt x="453695" y="245357"/>
                    <a:pt x="453695" y="196736"/>
                    <a:pt x="424625" y="165113"/>
                  </a:cubicBezTo>
                  <a:lnTo>
                    <a:pt x="324261" y="55934"/>
                  </a:lnTo>
                  <a:cubicBezTo>
                    <a:pt x="291492" y="20287"/>
                    <a:pt x="245286" y="0"/>
                    <a:pt x="196866" y="0"/>
                  </a:cubicBezTo>
                  <a:close/>
                </a:path>
              </a:pathLst>
            </a:custGeom>
            <a:solidFill>
              <a:srgbClr val="626262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61743" cy="442094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5176262" y="4815500"/>
            <a:ext cx="509003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rocery purchases in advance.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481715" y="6059227"/>
            <a:ext cx="509003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elivered within minutes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129073" y="8623688"/>
            <a:ext cx="509003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tore offers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176262" y="6101791"/>
            <a:ext cx="3108340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Shopping 30–60</a:t>
            </a: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 minutes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1493788" y="7165298"/>
            <a:ext cx="537766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Products are delivered to the customer's doorstep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493788" y="3525897"/>
            <a:ext cx="509003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</a:pP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191337"/>
                </a:solidFill>
                <a:latin typeface="Arial"/>
                <a:ea typeface="Arial"/>
                <a:cs typeface="Arial"/>
                <a:sym typeface="Arial"/>
              </a:rPr>
              <a:t>pp-based ordering throughout the day</a:t>
            </a:r>
          </a:p>
        </p:txBody>
      </p:sp>
      <p:sp>
        <p:nvSpPr>
          <p:cNvPr name="AutoShape 88" id="88"/>
          <p:cNvSpPr/>
          <p:nvPr/>
        </p:nvSpPr>
        <p:spPr>
          <a:xfrm>
            <a:off x="1457684" y="1999679"/>
            <a:ext cx="15375197" cy="0"/>
          </a:xfrm>
          <a:prstGeom prst="line">
            <a:avLst/>
          </a:prstGeom>
          <a:ln cap="rnd" w="85725">
            <a:solidFill>
              <a:srgbClr val="ECEB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>
            <a:off x="-2600915" y="238125"/>
            <a:ext cx="22007130" cy="0"/>
          </a:xfrm>
          <a:prstGeom prst="line">
            <a:avLst/>
          </a:prstGeom>
          <a:ln cap="flat" w="19050">
            <a:solidFill>
              <a:srgbClr val="ECEB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>
            <a:off x="-3573950" y="10079662"/>
            <a:ext cx="22883773" cy="0"/>
          </a:xfrm>
          <a:prstGeom prst="line">
            <a:avLst/>
          </a:prstGeom>
          <a:ln cap="flat" w="19050">
            <a:solidFill>
              <a:srgbClr val="ECEBE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4074" y="1076013"/>
            <a:ext cx="4096992" cy="3834824"/>
            <a:chOff x="0" y="0"/>
            <a:chExt cx="1329708" cy="1244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9708" cy="1244619"/>
            </a:xfrm>
            <a:custGeom>
              <a:avLst/>
              <a:gdLst/>
              <a:ahLst/>
              <a:cxnLst/>
              <a:rect r="r" b="b" t="t" l="l"/>
              <a:pathLst>
                <a:path h="1244619" w="1329708">
                  <a:moveTo>
                    <a:pt x="39683" y="0"/>
                  </a:moveTo>
                  <a:lnTo>
                    <a:pt x="1290025" y="0"/>
                  </a:lnTo>
                  <a:cubicBezTo>
                    <a:pt x="1311941" y="0"/>
                    <a:pt x="1329708" y="17767"/>
                    <a:pt x="1329708" y="39683"/>
                  </a:cubicBezTo>
                  <a:lnTo>
                    <a:pt x="1329708" y="1204937"/>
                  </a:lnTo>
                  <a:cubicBezTo>
                    <a:pt x="1329708" y="1226853"/>
                    <a:pt x="1311941" y="1244619"/>
                    <a:pt x="1290025" y="1244619"/>
                  </a:cubicBezTo>
                  <a:lnTo>
                    <a:pt x="39683" y="1244619"/>
                  </a:lnTo>
                  <a:cubicBezTo>
                    <a:pt x="17767" y="1244619"/>
                    <a:pt x="0" y="1226853"/>
                    <a:pt x="0" y="1204937"/>
                  </a:cubicBezTo>
                  <a:lnTo>
                    <a:pt x="0" y="39683"/>
                  </a:lnTo>
                  <a:cubicBezTo>
                    <a:pt x="0" y="17767"/>
                    <a:pt x="17767" y="0"/>
                    <a:pt x="39683" y="0"/>
                  </a:cubicBezTo>
                  <a:close/>
                </a:path>
              </a:pathLst>
            </a:custGeom>
            <a:solidFill>
              <a:srgbClr val="E0E6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329708" cy="1320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04074" y="5133131"/>
            <a:ext cx="4096992" cy="3834824"/>
            <a:chOff x="0" y="0"/>
            <a:chExt cx="1329708" cy="1244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9708" cy="1244619"/>
            </a:xfrm>
            <a:custGeom>
              <a:avLst/>
              <a:gdLst/>
              <a:ahLst/>
              <a:cxnLst/>
              <a:rect r="r" b="b" t="t" l="l"/>
              <a:pathLst>
                <a:path h="1244619" w="1329708">
                  <a:moveTo>
                    <a:pt x="39683" y="0"/>
                  </a:moveTo>
                  <a:lnTo>
                    <a:pt x="1290025" y="0"/>
                  </a:lnTo>
                  <a:cubicBezTo>
                    <a:pt x="1311941" y="0"/>
                    <a:pt x="1329708" y="17767"/>
                    <a:pt x="1329708" y="39683"/>
                  </a:cubicBezTo>
                  <a:lnTo>
                    <a:pt x="1329708" y="1204937"/>
                  </a:lnTo>
                  <a:cubicBezTo>
                    <a:pt x="1329708" y="1226853"/>
                    <a:pt x="1311941" y="1244619"/>
                    <a:pt x="1290025" y="1244619"/>
                  </a:cubicBezTo>
                  <a:lnTo>
                    <a:pt x="39683" y="1244619"/>
                  </a:lnTo>
                  <a:cubicBezTo>
                    <a:pt x="17767" y="1244619"/>
                    <a:pt x="0" y="1226853"/>
                    <a:pt x="0" y="1204937"/>
                  </a:cubicBezTo>
                  <a:lnTo>
                    <a:pt x="0" y="39683"/>
                  </a:lnTo>
                  <a:cubicBezTo>
                    <a:pt x="0" y="17767"/>
                    <a:pt x="17767" y="0"/>
                    <a:pt x="39683" y="0"/>
                  </a:cubicBezTo>
                  <a:close/>
                </a:path>
              </a:pathLst>
            </a:custGeom>
            <a:solidFill>
              <a:srgbClr val="FDF0D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329708" cy="1320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68179" y="1076013"/>
            <a:ext cx="4096992" cy="3834824"/>
            <a:chOff x="0" y="0"/>
            <a:chExt cx="1329708" cy="12446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9708" cy="1244619"/>
            </a:xfrm>
            <a:custGeom>
              <a:avLst/>
              <a:gdLst/>
              <a:ahLst/>
              <a:cxnLst/>
              <a:rect r="r" b="b" t="t" l="l"/>
              <a:pathLst>
                <a:path h="1244619" w="1329708">
                  <a:moveTo>
                    <a:pt x="39683" y="0"/>
                  </a:moveTo>
                  <a:lnTo>
                    <a:pt x="1290025" y="0"/>
                  </a:lnTo>
                  <a:cubicBezTo>
                    <a:pt x="1311941" y="0"/>
                    <a:pt x="1329708" y="17767"/>
                    <a:pt x="1329708" y="39683"/>
                  </a:cubicBezTo>
                  <a:lnTo>
                    <a:pt x="1329708" y="1204937"/>
                  </a:lnTo>
                  <a:cubicBezTo>
                    <a:pt x="1329708" y="1226853"/>
                    <a:pt x="1311941" y="1244619"/>
                    <a:pt x="1290025" y="1244619"/>
                  </a:cubicBezTo>
                  <a:lnTo>
                    <a:pt x="39683" y="1244619"/>
                  </a:lnTo>
                  <a:cubicBezTo>
                    <a:pt x="17767" y="1244619"/>
                    <a:pt x="0" y="1226853"/>
                    <a:pt x="0" y="1204937"/>
                  </a:cubicBezTo>
                  <a:lnTo>
                    <a:pt x="0" y="39683"/>
                  </a:lnTo>
                  <a:cubicBezTo>
                    <a:pt x="0" y="17767"/>
                    <a:pt x="17767" y="0"/>
                    <a:pt x="39683" y="0"/>
                  </a:cubicBezTo>
                  <a:close/>
                </a:path>
              </a:pathLst>
            </a:custGeom>
            <a:solidFill>
              <a:srgbClr val="E1FAD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329708" cy="1320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68179" y="5133131"/>
            <a:ext cx="4096992" cy="3834824"/>
            <a:chOff x="0" y="0"/>
            <a:chExt cx="1329708" cy="12446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9708" cy="1244619"/>
            </a:xfrm>
            <a:custGeom>
              <a:avLst/>
              <a:gdLst/>
              <a:ahLst/>
              <a:cxnLst/>
              <a:rect r="r" b="b" t="t" l="l"/>
              <a:pathLst>
                <a:path h="1244619" w="1329708">
                  <a:moveTo>
                    <a:pt x="39683" y="0"/>
                  </a:moveTo>
                  <a:lnTo>
                    <a:pt x="1290025" y="0"/>
                  </a:lnTo>
                  <a:cubicBezTo>
                    <a:pt x="1311941" y="0"/>
                    <a:pt x="1329708" y="17767"/>
                    <a:pt x="1329708" y="39683"/>
                  </a:cubicBezTo>
                  <a:lnTo>
                    <a:pt x="1329708" y="1204937"/>
                  </a:lnTo>
                  <a:cubicBezTo>
                    <a:pt x="1329708" y="1226853"/>
                    <a:pt x="1311941" y="1244619"/>
                    <a:pt x="1290025" y="1244619"/>
                  </a:cubicBezTo>
                  <a:lnTo>
                    <a:pt x="39683" y="1244619"/>
                  </a:lnTo>
                  <a:cubicBezTo>
                    <a:pt x="17767" y="1244619"/>
                    <a:pt x="0" y="1226853"/>
                    <a:pt x="0" y="1204937"/>
                  </a:cubicBezTo>
                  <a:lnTo>
                    <a:pt x="0" y="39683"/>
                  </a:lnTo>
                  <a:cubicBezTo>
                    <a:pt x="0" y="17767"/>
                    <a:pt x="17767" y="0"/>
                    <a:pt x="39683" y="0"/>
                  </a:cubicBezTo>
                  <a:close/>
                </a:path>
              </a:pathLst>
            </a:custGeom>
            <a:solidFill>
              <a:srgbClr val="FFF5E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329708" cy="1320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12821" y="1150061"/>
            <a:ext cx="4113920" cy="3797666"/>
            <a:chOff x="0" y="0"/>
            <a:chExt cx="5996940" cy="55359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7740" y="50800"/>
              <a:ext cx="5900870" cy="5438444"/>
            </a:xfrm>
            <a:custGeom>
              <a:avLst/>
              <a:gdLst/>
              <a:ahLst/>
              <a:cxnLst/>
              <a:rect r="r" b="b" t="t" l="l"/>
              <a:pathLst>
                <a:path h="5438444" w="5900870">
                  <a:moveTo>
                    <a:pt x="84340" y="0"/>
                  </a:moveTo>
                  <a:cubicBezTo>
                    <a:pt x="3222510" y="67310"/>
                    <a:pt x="3814330" y="113030"/>
                    <a:pt x="4359160" y="127000"/>
                  </a:cubicBezTo>
                  <a:cubicBezTo>
                    <a:pt x="4822710" y="138430"/>
                    <a:pt x="5469140" y="86360"/>
                    <a:pt x="5646940" y="133350"/>
                  </a:cubicBezTo>
                  <a:cubicBezTo>
                    <a:pt x="5697740" y="146050"/>
                    <a:pt x="5712980" y="140970"/>
                    <a:pt x="5738380" y="184150"/>
                  </a:cubicBezTo>
                  <a:cubicBezTo>
                    <a:pt x="5862840" y="394970"/>
                    <a:pt x="5729490" y="2258060"/>
                    <a:pt x="5739650" y="2729230"/>
                  </a:cubicBezTo>
                  <a:cubicBezTo>
                    <a:pt x="5743460" y="2909570"/>
                    <a:pt x="5746000" y="2951480"/>
                    <a:pt x="5756160" y="3103880"/>
                  </a:cubicBezTo>
                  <a:cubicBezTo>
                    <a:pt x="5772670" y="3347720"/>
                    <a:pt x="5823470" y="3728720"/>
                    <a:pt x="5842520" y="4044950"/>
                  </a:cubicBezTo>
                  <a:cubicBezTo>
                    <a:pt x="5862840" y="4366260"/>
                    <a:pt x="5862840" y="4792980"/>
                    <a:pt x="5875540" y="5017770"/>
                  </a:cubicBezTo>
                  <a:cubicBezTo>
                    <a:pt x="5881890" y="5135880"/>
                    <a:pt x="5911100" y="5215890"/>
                    <a:pt x="5897130" y="5289550"/>
                  </a:cubicBezTo>
                  <a:cubicBezTo>
                    <a:pt x="5888240" y="5344160"/>
                    <a:pt x="5869190" y="5401310"/>
                    <a:pt x="5833630" y="5425440"/>
                  </a:cubicBezTo>
                  <a:cubicBezTo>
                    <a:pt x="5799340" y="5448300"/>
                    <a:pt x="5749810" y="5434330"/>
                    <a:pt x="5690120" y="5433060"/>
                  </a:cubicBezTo>
                  <a:cubicBezTo>
                    <a:pt x="5589790" y="5430520"/>
                    <a:pt x="5453900" y="5414010"/>
                    <a:pt x="5290070" y="5392420"/>
                  </a:cubicBezTo>
                  <a:cubicBezTo>
                    <a:pt x="5025910" y="5359400"/>
                    <a:pt x="4502670" y="5260340"/>
                    <a:pt x="4260100" y="5234940"/>
                  </a:cubicBezTo>
                  <a:cubicBezTo>
                    <a:pt x="4129290" y="5220970"/>
                    <a:pt x="4093730" y="5222240"/>
                    <a:pt x="3956570" y="5217160"/>
                  </a:cubicBezTo>
                  <a:cubicBezTo>
                    <a:pt x="3673360" y="5207000"/>
                    <a:pt x="3059950" y="5195570"/>
                    <a:pt x="2647200" y="5201920"/>
                  </a:cubicBezTo>
                  <a:cubicBezTo>
                    <a:pt x="2277630" y="5208270"/>
                    <a:pt x="1906790" y="5238750"/>
                    <a:pt x="1595640" y="5246370"/>
                  </a:cubicBezTo>
                  <a:cubicBezTo>
                    <a:pt x="1347990" y="5253990"/>
                    <a:pt x="1157490" y="5257800"/>
                    <a:pt x="926350" y="5255260"/>
                  </a:cubicBezTo>
                  <a:cubicBezTo>
                    <a:pt x="678700" y="5252720"/>
                    <a:pt x="282460" y="5252720"/>
                    <a:pt x="154190" y="5229860"/>
                  </a:cubicBezTo>
                  <a:cubicBezTo>
                    <a:pt x="109740" y="5222240"/>
                    <a:pt x="88150" y="5215890"/>
                    <a:pt x="66560" y="5201920"/>
                  </a:cubicBezTo>
                  <a:cubicBezTo>
                    <a:pt x="48780" y="5190490"/>
                    <a:pt x="32270" y="5177790"/>
                    <a:pt x="25920" y="5160010"/>
                  </a:cubicBezTo>
                  <a:cubicBezTo>
                    <a:pt x="18300" y="5139690"/>
                    <a:pt x="19570" y="5102860"/>
                    <a:pt x="32270" y="5083810"/>
                  </a:cubicBezTo>
                  <a:cubicBezTo>
                    <a:pt x="43700" y="5064760"/>
                    <a:pt x="79260" y="5049520"/>
                    <a:pt x="98310" y="5045710"/>
                  </a:cubicBezTo>
                  <a:cubicBezTo>
                    <a:pt x="112280" y="5043170"/>
                    <a:pt x="124980" y="5045710"/>
                    <a:pt x="136410" y="5053330"/>
                  </a:cubicBezTo>
                  <a:cubicBezTo>
                    <a:pt x="154190" y="5066030"/>
                    <a:pt x="177050" y="5111750"/>
                    <a:pt x="180860" y="5132070"/>
                  </a:cubicBezTo>
                  <a:cubicBezTo>
                    <a:pt x="184670" y="5143500"/>
                    <a:pt x="184670" y="5149850"/>
                    <a:pt x="179590" y="5160010"/>
                  </a:cubicBezTo>
                  <a:cubicBezTo>
                    <a:pt x="173240" y="5176520"/>
                    <a:pt x="146570" y="5207000"/>
                    <a:pt x="124980" y="5212080"/>
                  </a:cubicBezTo>
                  <a:cubicBezTo>
                    <a:pt x="103390" y="5218430"/>
                    <a:pt x="67830" y="5210810"/>
                    <a:pt x="50050" y="5196840"/>
                  </a:cubicBezTo>
                  <a:cubicBezTo>
                    <a:pt x="33540" y="5182870"/>
                    <a:pt x="28460" y="5162550"/>
                    <a:pt x="20840" y="5126990"/>
                  </a:cubicBezTo>
                  <a:cubicBezTo>
                    <a:pt x="1790" y="5025390"/>
                    <a:pt x="31000" y="4784090"/>
                    <a:pt x="33540" y="4527550"/>
                  </a:cubicBezTo>
                  <a:cubicBezTo>
                    <a:pt x="38620" y="4067810"/>
                    <a:pt x="37350" y="3251200"/>
                    <a:pt x="32270" y="2600960"/>
                  </a:cubicBezTo>
                  <a:cubicBezTo>
                    <a:pt x="27190" y="1934210"/>
                    <a:pt x="-10910" y="1000760"/>
                    <a:pt x="3060" y="576580"/>
                  </a:cubicBezTo>
                  <a:cubicBezTo>
                    <a:pt x="8140" y="383540"/>
                    <a:pt x="47510" y="236220"/>
                    <a:pt x="34810" y="154940"/>
                  </a:cubicBezTo>
                  <a:cubicBezTo>
                    <a:pt x="29730" y="119380"/>
                    <a:pt x="6870" y="102870"/>
                    <a:pt x="6870" y="81280"/>
                  </a:cubicBezTo>
                  <a:cubicBezTo>
                    <a:pt x="8140" y="63500"/>
                    <a:pt x="17030" y="44450"/>
                    <a:pt x="29730" y="33020"/>
                  </a:cubicBezTo>
                  <a:cubicBezTo>
                    <a:pt x="46240" y="19050"/>
                    <a:pt x="83070" y="6350"/>
                    <a:pt x="104660" y="8890"/>
                  </a:cubicBezTo>
                  <a:cubicBezTo>
                    <a:pt x="122440" y="10160"/>
                    <a:pt x="140220" y="22860"/>
                    <a:pt x="151650" y="34290"/>
                  </a:cubicBezTo>
                  <a:cubicBezTo>
                    <a:pt x="163080" y="46990"/>
                    <a:pt x="171970" y="66040"/>
                    <a:pt x="173240" y="83820"/>
                  </a:cubicBezTo>
                  <a:cubicBezTo>
                    <a:pt x="175780" y="100330"/>
                    <a:pt x="171970" y="120650"/>
                    <a:pt x="161810" y="135890"/>
                  </a:cubicBezTo>
                  <a:cubicBezTo>
                    <a:pt x="147840" y="152400"/>
                    <a:pt x="116090" y="173990"/>
                    <a:pt x="93230" y="175260"/>
                  </a:cubicBezTo>
                  <a:cubicBezTo>
                    <a:pt x="70370" y="176530"/>
                    <a:pt x="37350" y="157480"/>
                    <a:pt x="23380" y="140970"/>
                  </a:cubicBezTo>
                  <a:cubicBezTo>
                    <a:pt x="10680" y="127000"/>
                    <a:pt x="4330" y="107950"/>
                    <a:pt x="6870" y="90170"/>
                  </a:cubicBezTo>
                  <a:cubicBezTo>
                    <a:pt x="8140" y="68580"/>
                    <a:pt x="27190" y="34290"/>
                    <a:pt x="43700" y="21590"/>
                  </a:cubicBezTo>
                  <a:cubicBezTo>
                    <a:pt x="58940" y="10160"/>
                    <a:pt x="79260" y="6350"/>
                    <a:pt x="95770" y="7620"/>
                  </a:cubicBezTo>
                  <a:cubicBezTo>
                    <a:pt x="112280" y="8890"/>
                    <a:pt x="132600" y="15240"/>
                    <a:pt x="145300" y="27940"/>
                  </a:cubicBezTo>
                  <a:cubicBezTo>
                    <a:pt x="161810" y="44450"/>
                    <a:pt x="171970" y="78740"/>
                    <a:pt x="179590" y="105410"/>
                  </a:cubicBezTo>
                  <a:cubicBezTo>
                    <a:pt x="187210" y="132080"/>
                    <a:pt x="189750" y="149860"/>
                    <a:pt x="191020" y="189230"/>
                  </a:cubicBezTo>
                  <a:cubicBezTo>
                    <a:pt x="194830" y="285750"/>
                    <a:pt x="170700" y="433070"/>
                    <a:pt x="164350" y="676910"/>
                  </a:cubicBezTo>
                  <a:cubicBezTo>
                    <a:pt x="145300" y="1416050"/>
                    <a:pt x="276110" y="4824730"/>
                    <a:pt x="184670" y="5140960"/>
                  </a:cubicBezTo>
                  <a:cubicBezTo>
                    <a:pt x="171970" y="5182870"/>
                    <a:pt x="159270" y="5193030"/>
                    <a:pt x="142760" y="5204460"/>
                  </a:cubicBezTo>
                  <a:cubicBezTo>
                    <a:pt x="131330" y="5213350"/>
                    <a:pt x="118630" y="5215890"/>
                    <a:pt x="105930" y="5215890"/>
                  </a:cubicBezTo>
                  <a:cubicBezTo>
                    <a:pt x="88150" y="5214620"/>
                    <a:pt x="64020" y="5208270"/>
                    <a:pt x="50050" y="5196840"/>
                  </a:cubicBezTo>
                  <a:cubicBezTo>
                    <a:pt x="36080" y="5185410"/>
                    <a:pt x="25920" y="5160010"/>
                    <a:pt x="22110" y="5146040"/>
                  </a:cubicBezTo>
                  <a:cubicBezTo>
                    <a:pt x="19570" y="5138420"/>
                    <a:pt x="19570" y="5126990"/>
                    <a:pt x="20840" y="5126990"/>
                  </a:cubicBezTo>
                  <a:cubicBezTo>
                    <a:pt x="25920" y="5125720"/>
                    <a:pt x="69100" y="5200650"/>
                    <a:pt x="66560" y="5201920"/>
                  </a:cubicBezTo>
                  <a:cubicBezTo>
                    <a:pt x="64020" y="5203190"/>
                    <a:pt x="33540" y="5176520"/>
                    <a:pt x="25920" y="5160010"/>
                  </a:cubicBezTo>
                  <a:cubicBezTo>
                    <a:pt x="18300" y="5143500"/>
                    <a:pt x="19570" y="5118100"/>
                    <a:pt x="23380" y="5101590"/>
                  </a:cubicBezTo>
                  <a:cubicBezTo>
                    <a:pt x="27190" y="5088890"/>
                    <a:pt x="34810" y="5077460"/>
                    <a:pt x="44970" y="5068570"/>
                  </a:cubicBezTo>
                  <a:cubicBezTo>
                    <a:pt x="57670" y="5057140"/>
                    <a:pt x="72910" y="5049520"/>
                    <a:pt x="98310" y="5045710"/>
                  </a:cubicBezTo>
                  <a:cubicBezTo>
                    <a:pt x="154190" y="5038090"/>
                    <a:pt x="272300" y="5076190"/>
                    <a:pt x="377710" y="5086350"/>
                  </a:cubicBezTo>
                  <a:cubicBezTo>
                    <a:pt x="514870" y="5099050"/>
                    <a:pt x="681240" y="5101590"/>
                    <a:pt x="850150" y="5105400"/>
                  </a:cubicBezTo>
                  <a:cubicBezTo>
                    <a:pt x="1047000" y="5110480"/>
                    <a:pt x="1241310" y="5113020"/>
                    <a:pt x="1485150" y="5110480"/>
                  </a:cubicBezTo>
                  <a:cubicBezTo>
                    <a:pt x="1814080" y="5106670"/>
                    <a:pt x="2370340" y="5078730"/>
                    <a:pt x="2647200" y="5074920"/>
                  </a:cubicBezTo>
                  <a:cubicBezTo>
                    <a:pt x="2802140" y="5072380"/>
                    <a:pt x="2851670" y="5074920"/>
                    <a:pt x="3007880" y="5077460"/>
                  </a:cubicBezTo>
                  <a:cubicBezTo>
                    <a:pt x="3302520" y="5081270"/>
                    <a:pt x="3891800" y="5077460"/>
                    <a:pt x="4275340" y="5109210"/>
                  </a:cubicBezTo>
                  <a:cubicBezTo>
                    <a:pt x="4596650" y="5137150"/>
                    <a:pt x="4892560" y="5205730"/>
                    <a:pt x="5155450" y="5236210"/>
                  </a:cubicBezTo>
                  <a:cubicBezTo>
                    <a:pt x="5371350" y="5261610"/>
                    <a:pt x="5636780" y="5388610"/>
                    <a:pt x="5742190" y="5289550"/>
                  </a:cubicBezTo>
                  <a:cubicBezTo>
                    <a:pt x="5875540" y="5165090"/>
                    <a:pt x="5732030" y="4685030"/>
                    <a:pt x="5716790" y="4358640"/>
                  </a:cubicBezTo>
                  <a:cubicBezTo>
                    <a:pt x="5700280" y="3997960"/>
                    <a:pt x="5655830" y="3543300"/>
                    <a:pt x="5640590" y="3216910"/>
                  </a:cubicBezTo>
                  <a:cubicBezTo>
                    <a:pt x="5629160" y="2974340"/>
                    <a:pt x="5626620" y="2853690"/>
                    <a:pt x="5621540" y="2578100"/>
                  </a:cubicBezTo>
                  <a:cubicBezTo>
                    <a:pt x="5612650" y="2070100"/>
                    <a:pt x="5563120" y="720090"/>
                    <a:pt x="5603760" y="416560"/>
                  </a:cubicBezTo>
                  <a:cubicBezTo>
                    <a:pt x="5615190" y="332740"/>
                    <a:pt x="5677420" y="300990"/>
                    <a:pt x="5646940" y="260350"/>
                  </a:cubicBezTo>
                  <a:cubicBezTo>
                    <a:pt x="5545340" y="123190"/>
                    <a:pt x="4342650" y="245110"/>
                    <a:pt x="3844810" y="226060"/>
                  </a:cubicBezTo>
                  <a:cubicBezTo>
                    <a:pt x="3493020" y="212090"/>
                    <a:pt x="3268230" y="186690"/>
                    <a:pt x="2944380" y="172720"/>
                  </a:cubicBezTo>
                  <a:cubicBezTo>
                    <a:pt x="2565920" y="156210"/>
                    <a:pt x="2151900" y="146050"/>
                    <a:pt x="1712480" y="138430"/>
                  </a:cubicBezTo>
                  <a:cubicBezTo>
                    <a:pt x="1208290" y="128270"/>
                    <a:pt x="232930" y="151130"/>
                    <a:pt x="84340" y="123190"/>
                  </a:cubicBezTo>
                  <a:cubicBezTo>
                    <a:pt x="60210" y="119380"/>
                    <a:pt x="53860" y="116840"/>
                    <a:pt x="43700" y="107950"/>
                  </a:cubicBezTo>
                  <a:cubicBezTo>
                    <a:pt x="33540" y="99060"/>
                    <a:pt x="24650" y="82550"/>
                    <a:pt x="23380" y="68580"/>
                  </a:cubicBezTo>
                  <a:cubicBezTo>
                    <a:pt x="20840" y="55880"/>
                    <a:pt x="24650" y="38100"/>
                    <a:pt x="33540" y="26670"/>
                  </a:cubicBezTo>
                  <a:cubicBezTo>
                    <a:pt x="43700" y="13970"/>
                    <a:pt x="84340" y="0"/>
                    <a:pt x="84340" y="0"/>
                  </a:cubicBezTo>
                </a:path>
              </a:pathLst>
            </a:custGeom>
            <a:solidFill>
              <a:srgbClr val="B9C5F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751251" y="1150061"/>
            <a:ext cx="4113920" cy="3797666"/>
            <a:chOff x="0" y="0"/>
            <a:chExt cx="5996940" cy="55359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7740" y="50800"/>
              <a:ext cx="5900870" cy="5438444"/>
            </a:xfrm>
            <a:custGeom>
              <a:avLst/>
              <a:gdLst/>
              <a:ahLst/>
              <a:cxnLst/>
              <a:rect r="r" b="b" t="t" l="l"/>
              <a:pathLst>
                <a:path h="5438444" w="5900870">
                  <a:moveTo>
                    <a:pt x="84340" y="0"/>
                  </a:moveTo>
                  <a:cubicBezTo>
                    <a:pt x="3222510" y="67310"/>
                    <a:pt x="3814330" y="113030"/>
                    <a:pt x="4359160" y="127000"/>
                  </a:cubicBezTo>
                  <a:cubicBezTo>
                    <a:pt x="4822710" y="138430"/>
                    <a:pt x="5469140" y="86360"/>
                    <a:pt x="5646940" y="133350"/>
                  </a:cubicBezTo>
                  <a:cubicBezTo>
                    <a:pt x="5697740" y="146050"/>
                    <a:pt x="5712980" y="140970"/>
                    <a:pt x="5738380" y="184150"/>
                  </a:cubicBezTo>
                  <a:cubicBezTo>
                    <a:pt x="5862840" y="394970"/>
                    <a:pt x="5729490" y="2258060"/>
                    <a:pt x="5739650" y="2729230"/>
                  </a:cubicBezTo>
                  <a:cubicBezTo>
                    <a:pt x="5743460" y="2909570"/>
                    <a:pt x="5746000" y="2951480"/>
                    <a:pt x="5756160" y="3103880"/>
                  </a:cubicBezTo>
                  <a:cubicBezTo>
                    <a:pt x="5772670" y="3347720"/>
                    <a:pt x="5823470" y="3728720"/>
                    <a:pt x="5842520" y="4044950"/>
                  </a:cubicBezTo>
                  <a:cubicBezTo>
                    <a:pt x="5862840" y="4366260"/>
                    <a:pt x="5862840" y="4792980"/>
                    <a:pt x="5875540" y="5017770"/>
                  </a:cubicBezTo>
                  <a:cubicBezTo>
                    <a:pt x="5881890" y="5135880"/>
                    <a:pt x="5911100" y="5215890"/>
                    <a:pt x="5897130" y="5289550"/>
                  </a:cubicBezTo>
                  <a:cubicBezTo>
                    <a:pt x="5888240" y="5344160"/>
                    <a:pt x="5869190" y="5401310"/>
                    <a:pt x="5833630" y="5425440"/>
                  </a:cubicBezTo>
                  <a:cubicBezTo>
                    <a:pt x="5799340" y="5448300"/>
                    <a:pt x="5749810" y="5434330"/>
                    <a:pt x="5690120" y="5433060"/>
                  </a:cubicBezTo>
                  <a:cubicBezTo>
                    <a:pt x="5589790" y="5430520"/>
                    <a:pt x="5453900" y="5414010"/>
                    <a:pt x="5290070" y="5392420"/>
                  </a:cubicBezTo>
                  <a:cubicBezTo>
                    <a:pt x="5025910" y="5359400"/>
                    <a:pt x="4502670" y="5260340"/>
                    <a:pt x="4260100" y="5234940"/>
                  </a:cubicBezTo>
                  <a:cubicBezTo>
                    <a:pt x="4129290" y="5220970"/>
                    <a:pt x="4093730" y="5222240"/>
                    <a:pt x="3956570" y="5217160"/>
                  </a:cubicBezTo>
                  <a:cubicBezTo>
                    <a:pt x="3673360" y="5207000"/>
                    <a:pt x="3059950" y="5195570"/>
                    <a:pt x="2647200" y="5201920"/>
                  </a:cubicBezTo>
                  <a:cubicBezTo>
                    <a:pt x="2277630" y="5208270"/>
                    <a:pt x="1906790" y="5238750"/>
                    <a:pt x="1595640" y="5246370"/>
                  </a:cubicBezTo>
                  <a:cubicBezTo>
                    <a:pt x="1347990" y="5253990"/>
                    <a:pt x="1157490" y="5257800"/>
                    <a:pt x="926350" y="5255260"/>
                  </a:cubicBezTo>
                  <a:cubicBezTo>
                    <a:pt x="678700" y="5252720"/>
                    <a:pt x="282460" y="5252720"/>
                    <a:pt x="154190" y="5229860"/>
                  </a:cubicBezTo>
                  <a:cubicBezTo>
                    <a:pt x="109740" y="5222240"/>
                    <a:pt x="88150" y="5215890"/>
                    <a:pt x="66560" y="5201920"/>
                  </a:cubicBezTo>
                  <a:cubicBezTo>
                    <a:pt x="48780" y="5190490"/>
                    <a:pt x="32270" y="5177790"/>
                    <a:pt x="25920" y="5160010"/>
                  </a:cubicBezTo>
                  <a:cubicBezTo>
                    <a:pt x="18300" y="5139690"/>
                    <a:pt x="19570" y="5102860"/>
                    <a:pt x="32270" y="5083810"/>
                  </a:cubicBezTo>
                  <a:cubicBezTo>
                    <a:pt x="43700" y="5064760"/>
                    <a:pt x="79260" y="5049520"/>
                    <a:pt x="98310" y="5045710"/>
                  </a:cubicBezTo>
                  <a:cubicBezTo>
                    <a:pt x="112280" y="5043170"/>
                    <a:pt x="124980" y="5045710"/>
                    <a:pt x="136410" y="5053330"/>
                  </a:cubicBezTo>
                  <a:cubicBezTo>
                    <a:pt x="154190" y="5066030"/>
                    <a:pt x="177050" y="5111750"/>
                    <a:pt x="180860" y="5132070"/>
                  </a:cubicBezTo>
                  <a:cubicBezTo>
                    <a:pt x="184670" y="5143500"/>
                    <a:pt x="184670" y="5149850"/>
                    <a:pt x="179590" y="5160010"/>
                  </a:cubicBezTo>
                  <a:cubicBezTo>
                    <a:pt x="173240" y="5176520"/>
                    <a:pt x="146570" y="5207000"/>
                    <a:pt x="124980" y="5212080"/>
                  </a:cubicBezTo>
                  <a:cubicBezTo>
                    <a:pt x="103390" y="5218430"/>
                    <a:pt x="67830" y="5210810"/>
                    <a:pt x="50050" y="5196840"/>
                  </a:cubicBezTo>
                  <a:cubicBezTo>
                    <a:pt x="33540" y="5182870"/>
                    <a:pt x="28460" y="5162550"/>
                    <a:pt x="20840" y="5126990"/>
                  </a:cubicBezTo>
                  <a:cubicBezTo>
                    <a:pt x="1790" y="5025390"/>
                    <a:pt x="31000" y="4784090"/>
                    <a:pt x="33540" y="4527550"/>
                  </a:cubicBezTo>
                  <a:cubicBezTo>
                    <a:pt x="38620" y="4067810"/>
                    <a:pt x="37350" y="3251200"/>
                    <a:pt x="32270" y="2600960"/>
                  </a:cubicBezTo>
                  <a:cubicBezTo>
                    <a:pt x="27190" y="1934210"/>
                    <a:pt x="-10910" y="1000760"/>
                    <a:pt x="3060" y="576580"/>
                  </a:cubicBezTo>
                  <a:cubicBezTo>
                    <a:pt x="8140" y="383540"/>
                    <a:pt x="47510" y="236220"/>
                    <a:pt x="34810" y="154940"/>
                  </a:cubicBezTo>
                  <a:cubicBezTo>
                    <a:pt x="29730" y="119380"/>
                    <a:pt x="6870" y="102870"/>
                    <a:pt x="6870" y="81280"/>
                  </a:cubicBezTo>
                  <a:cubicBezTo>
                    <a:pt x="8140" y="63500"/>
                    <a:pt x="17030" y="44450"/>
                    <a:pt x="29730" y="33020"/>
                  </a:cubicBezTo>
                  <a:cubicBezTo>
                    <a:pt x="46240" y="19050"/>
                    <a:pt x="83070" y="6350"/>
                    <a:pt x="104660" y="8890"/>
                  </a:cubicBezTo>
                  <a:cubicBezTo>
                    <a:pt x="122440" y="10160"/>
                    <a:pt x="140220" y="22860"/>
                    <a:pt x="151650" y="34290"/>
                  </a:cubicBezTo>
                  <a:cubicBezTo>
                    <a:pt x="163080" y="46990"/>
                    <a:pt x="171970" y="66040"/>
                    <a:pt x="173240" y="83820"/>
                  </a:cubicBezTo>
                  <a:cubicBezTo>
                    <a:pt x="175780" y="100330"/>
                    <a:pt x="171970" y="120650"/>
                    <a:pt x="161810" y="135890"/>
                  </a:cubicBezTo>
                  <a:cubicBezTo>
                    <a:pt x="147840" y="152400"/>
                    <a:pt x="116090" y="173990"/>
                    <a:pt x="93230" y="175260"/>
                  </a:cubicBezTo>
                  <a:cubicBezTo>
                    <a:pt x="70370" y="176530"/>
                    <a:pt x="37350" y="157480"/>
                    <a:pt x="23380" y="140970"/>
                  </a:cubicBezTo>
                  <a:cubicBezTo>
                    <a:pt x="10680" y="127000"/>
                    <a:pt x="4330" y="107950"/>
                    <a:pt x="6870" y="90170"/>
                  </a:cubicBezTo>
                  <a:cubicBezTo>
                    <a:pt x="8140" y="68580"/>
                    <a:pt x="27190" y="34290"/>
                    <a:pt x="43700" y="21590"/>
                  </a:cubicBezTo>
                  <a:cubicBezTo>
                    <a:pt x="58940" y="10160"/>
                    <a:pt x="79260" y="6350"/>
                    <a:pt x="95770" y="7620"/>
                  </a:cubicBezTo>
                  <a:cubicBezTo>
                    <a:pt x="112280" y="8890"/>
                    <a:pt x="132600" y="15240"/>
                    <a:pt x="145300" y="27940"/>
                  </a:cubicBezTo>
                  <a:cubicBezTo>
                    <a:pt x="161810" y="44450"/>
                    <a:pt x="171970" y="78740"/>
                    <a:pt x="179590" y="105410"/>
                  </a:cubicBezTo>
                  <a:cubicBezTo>
                    <a:pt x="187210" y="132080"/>
                    <a:pt x="189750" y="149860"/>
                    <a:pt x="191020" y="189230"/>
                  </a:cubicBezTo>
                  <a:cubicBezTo>
                    <a:pt x="194830" y="285750"/>
                    <a:pt x="170700" y="433070"/>
                    <a:pt x="164350" y="676910"/>
                  </a:cubicBezTo>
                  <a:cubicBezTo>
                    <a:pt x="145300" y="1416050"/>
                    <a:pt x="276110" y="4824730"/>
                    <a:pt x="184670" y="5140960"/>
                  </a:cubicBezTo>
                  <a:cubicBezTo>
                    <a:pt x="171970" y="5182870"/>
                    <a:pt x="159270" y="5193030"/>
                    <a:pt x="142760" y="5204460"/>
                  </a:cubicBezTo>
                  <a:cubicBezTo>
                    <a:pt x="131330" y="5213350"/>
                    <a:pt x="118630" y="5215890"/>
                    <a:pt x="105930" y="5215890"/>
                  </a:cubicBezTo>
                  <a:cubicBezTo>
                    <a:pt x="88150" y="5214620"/>
                    <a:pt x="64020" y="5208270"/>
                    <a:pt x="50050" y="5196840"/>
                  </a:cubicBezTo>
                  <a:cubicBezTo>
                    <a:pt x="36080" y="5185410"/>
                    <a:pt x="25920" y="5160010"/>
                    <a:pt x="22110" y="5146040"/>
                  </a:cubicBezTo>
                  <a:cubicBezTo>
                    <a:pt x="19570" y="5138420"/>
                    <a:pt x="19570" y="5126990"/>
                    <a:pt x="20840" y="5126990"/>
                  </a:cubicBezTo>
                  <a:cubicBezTo>
                    <a:pt x="25920" y="5125720"/>
                    <a:pt x="69100" y="5200650"/>
                    <a:pt x="66560" y="5201920"/>
                  </a:cubicBezTo>
                  <a:cubicBezTo>
                    <a:pt x="64020" y="5203190"/>
                    <a:pt x="33540" y="5176520"/>
                    <a:pt x="25920" y="5160010"/>
                  </a:cubicBezTo>
                  <a:cubicBezTo>
                    <a:pt x="18300" y="5143500"/>
                    <a:pt x="19570" y="5118100"/>
                    <a:pt x="23380" y="5101590"/>
                  </a:cubicBezTo>
                  <a:cubicBezTo>
                    <a:pt x="27190" y="5088890"/>
                    <a:pt x="34810" y="5077460"/>
                    <a:pt x="44970" y="5068570"/>
                  </a:cubicBezTo>
                  <a:cubicBezTo>
                    <a:pt x="57670" y="5057140"/>
                    <a:pt x="72910" y="5049520"/>
                    <a:pt x="98310" y="5045710"/>
                  </a:cubicBezTo>
                  <a:cubicBezTo>
                    <a:pt x="154190" y="5038090"/>
                    <a:pt x="272300" y="5076190"/>
                    <a:pt x="377710" y="5086350"/>
                  </a:cubicBezTo>
                  <a:cubicBezTo>
                    <a:pt x="514870" y="5099050"/>
                    <a:pt x="681240" y="5101590"/>
                    <a:pt x="850150" y="5105400"/>
                  </a:cubicBezTo>
                  <a:cubicBezTo>
                    <a:pt x="1047000" y="5110480"/>
                    <a:pt x="1241310" y="5113020"/>
                    <a:pt x="1485150" y="5110480"/>
                  </a:cubicBezTo>
                  <a:cubicBezTo>
                    <a:pt x="1814080" y="5106670"/>
                    <a:pt x="2370340" y="5078730"/>
                    <a:pt x="2647200" y="5074920"/>
                  </a:cubicBezTo>
                  <a:cubicBezTo>
                    <a:pt x="2802140" y="5072380"/>
                    <a:pt x="2851670" y="5074920"/>
                    <a:pt x="3007880" y="5077460"/>
                  </a:cubicBezTo>
                  <a:cubicBezTo>
                    <a:pt x="3302520" y="5081270"/>
                    <a:pt x="3891800" y="5077460"/>
                    <a:pt x="4275340" y="5109210"/>
                  </a:cubicBezTo>
                  <a:cubicBezTo>
                    <a:pt x="4596650" y="5137150"/>
                    <a:pt x="4892560" y="5205730"/>
                    <a:pt x="5155450" y="5236210"/>
                  </a:cubicBezTo>
                  <a:cubicBezTo>
                    <a:pt x="5371350" y="5261610"/>
                    <a:pt x="5636780" y="5388610"/>
                    <a:pt x="5742190" y="5289550"/>
                  </a:cubicBezTo>
                  <a:cubicBezTo>
                    <a:pt x="5875540" y="5165090"/>
                    <a:pt x="5732030" y="4685030"/>
                    <a:pt x="5716790" y="4358640"/>
                  </a:cubicBezTo>
                  <a:cubicBezTo>
                    <a:pt x="5700280" y="3997960"/>
                    <a:pt x="5655830" y="3543300"/>
                    <a:pt x="5640590" y="3216910"/>
                  </a:cubicBezTo>
                  <a:cubicBezTo>
                    <a:pt x="5629160" y="2974340"/>
                    <a:pt x="5626620" y="2853690"/>
                    <a:pt x="5621540" y="2578100"/>
                  </a:cubicBezTo>
                  <a:cubicBezTo>
                    <a:pt x="5612650" y="2070100"/>
                    <a:pt x="5563120" y="720090"/>
                    <a:pt x="5603760" y="416560"/>
                  </a:cubicBezTo>
                  <a:cubicBezTo>
                    <a:pt x="5615190" y="332740"/>
                    <a:pt x="5677420" y="300990"/>
                    <a:pt x="5646940" y="260350"/>
                  </a:cubicBezTo>
                  <a:cubicBezTo>
                    <a:pt x="5545340" y="123190"/>
                    <a:pt x="4342650" y="245110"/>
                    <a:pt x="3844810" y="226060"/>
                  </a:cubicBezTo>
                  <a:cubicBezTo>
                    <a:pt x="3493020" y="212090"/>
                    <a:pt x="3268230" y="186690"/>
                    <a:pt x="2944380" y="172720"/>
                  </a:cubicBezTo>
                  <a:cubicBezTo>
                    <a:pt x="2565920" y="156210"/>
                    <a:pt x="2151900" y="146050"/>
                    <a:pt x="1712480" y="138430"/>
                  </a:cubicBezTo>
                  <a:cubicBezTo>
                    <a:pt x="1208290" y="128270"/>
                    <a:pt x="232930" y="151130"/>
                    <a:pt x="84340" y="123190"/>
                  </a:cubicBezTo>
                  <a:cubicBezTo>
                    <a:pt x="60210" y="119380"/>
                    <a:pt x="53860" y="116840"/>
                    <a:pt x="43700" y="107950"/>
                  </a:cubicBezTo>
                  <a:cubicBezTo>
                    <a:pt x="33540" y="99060"/>
                    <a:pt x="24650" y="82550"/>
                    <a:pt x="23380" y="68580"/>
                  </a:cubicBezTo>
                  <a:cubicBezTo>
                    <a:pt x="20840" y="55880"/>
                    <a:pt x="24650" y="38100"/>
                    <a:pt x="33540" y="26670"/>
                  </a:cubicBezTo>
                  <a:cubicBezTo>
                    <a:pt x="43700" y="13970"/>
                    <a:pt x="84340" y="0"/>
                    <a:pt x="84340" y="0"/>
                  </a:cubicBezTo>
                </a:path>
              </a:pathLst>
            </a:custGeom>
            <a:solidFill>
              <a:srgbClr val="A2DF9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412821" y="5096241"/>
            <a:ext cx="4113920" cy="3797666"/>
            <a:chOff x="0" y="0"/>
            <a:chExt cx="5996940" cy="55359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7740" y="50800"/>
              <a:ext cx="5900870" cy="5438444"/>
            </a:xfrm>
            <a:custGeom>
              <a:avLst/>
              <a:gdLst/>
              <a:ahLst/>
              <a:cxnLst/>
              <a:rect r="r" b="b" t="t" l="l"/>
              <a:pathLst>
                <a:path h="5438444" w="5900870">
                  <a:moveTo>
                    <a:pt x="84340" y="0"/>
                  </a:moveTo>
                  <a:cubicBezTo>
                    <a:pt x="3222510" y="67310"/>
                    <a:pt x="3814330" y="113030"/>
                    <a:pt x="4359160" y="127000"/>
                  </a:cubicBezTo>
                  <a:cubicBezTo>
                    <a:pt x="4822710" y="138430"/>
                    <a:pt x="5469140" y="86360"/>
                    <a:pt x="5646940" y="133350"/>
                  </a:cubicBezTo>
                  <a:cubicBezTo>
                    <a:pt x="5697740" y="146050"/>
                    <a:pt x="5712980" y="140970"/>
                    <a:pt x="5738380" y="184150"/>
                  </a:cubicBezTo>
                  <a:cubicBezTo>
                    <a:pt x="5862840" y="394970"/>
                    <a:pt x="5729490" y="2258060"/>
                    <a:pt x="5739650" y="2729230"/>
                  </a:cubicBezTo>
                  <a:cubicBezTo>
                    <a:pt x="5743460" y="2909570"/>
                    <a:pt x="5746000" y="2951480"/>
                    <a:pt x="5756160" y="3103880"/>
                  </a:cubicBezTo>
                  <a:cubicBezTo>
                    <a:pt x="5772670" y="3347720"/>
                    <a:pt x="5823470" y="3728720"/>
                    <a:pt x="5842520" y="4044950"/>
                  </a:cubicBezTo>
                  <a:cubicBezTo>
                    <a:pt x="5862840" y="4366260"/>
                    <a:pt x="5862840" y="4792980"/>
                    <a:pt x="5875540" y="5017770"/>
                  </a:cubicBezTo>
                  <a:cubicBezTo>
                    <a:pt x="5881890" y="5135880"/>
                    <a:pt x="5911100" y="5215890"/>
                    <a:pt x="5897130" y="5289550"/>
                  </a:cubicBezTo>
                  <a:cubicBezTo>
                    <a:pt x="5888240" y="5344160"/>
                    <a:pt x="5869190" y="5401310"/>
                    <a:pt x="5833630" y="5425440"/>
                  </a:cubicBezTo>
                  <a:cubicBezTo>
                    <a:pt x="5799340" y="5448300"/>
                    <a:pt x="5749810" y="5434330"/>
                    <a:pt x="5690120" y="5433060"/>
                  </a:cubicBezTo>
                  <a:cubicBezTo>
                    <a:pt x="5589790" y="5430520"/>
                    <a:pt x="5453900" y="5414010"/>
                    <a:pt x="5290070" y="5392420"/>
                  </a:cubicBezTo>
                  <a:cubicBezTo>
                    <a:pt x="5025910" y="5359400"/>
                    <a:pt x="4502670" y="5260340"/>
                    <a:pt x="4260100" y="5234940"/>
                  </a:cubicBezTo>
                  <a:cubicBezTo>
                    <a:pt x="4129290" y="5220970"/>
                    <a:pt x="4093730" y="5222240"/>
                    <a:pt x="3956570" y="5217160"/>
                  </a:cubicBezTo>
                  <a:cubicBezTo>
                    <a:pt x="3673360" y="5207000"/>
                    <a:pt x="3059950" y="5195570"/>
                    <a:pt x="2647200" y="5201920"/>
                  </a:cubicBezTo>
                  <a:cubicBezTo>
                    <a:pt x="2277630" y="5208270"/>
                    <a:pt x="1906790" y="5238750"/>
                    <a:pt x="1595640" y="5246370"/>
                  </a:cubicBezTo>
                  <a:cubicBezTo>
                    <a:pt x="1347990" y="5253990"/>
                    <a:pt x="1157490" y="5257800"/>
                    <a:pt x="926350" y="5255260"/>
                  </a:cubicBezTo>
                  <a:cubicBezTo>
                    <a:pt x="678700" y="5252720"/>
                    <a:pt x="282460" y="5252720"/>
                    <a:pt x="154190" y="5229860"/>
                  </a:cubicBezTo>
                  <a:cubicBezTo>
                    <a:pt x="109740" y="5222240"/>
                    <a:pt x="88150" y="5215890"/>
                    <a:pt x="66560" y="5201920"/>
                  </a:cubicBezTo>
                  <a:cubicBezTo>
                    <a:pt x="48780" y="5190490"/>
                    <a:pt x="32270" y="5177790"/>
                    <a:pt x="25920" y="5160010"/>
                  </a:cubicBezTo>
                  <a:cubicBezTo>
                    <a:pt x="18300" y="5139690"/>
                    <a:pt x="19570" y="5102860"/>
                    <a:pt x="32270" y="5083810"/>
                  </a:cubicBezTo>
                  <a:cubicBezTo>
                    <a:pt x="43700" y="5064760"/>
                    <a:pt x="79260" y="5049520"/>
                    <a:pt x="98310" y="5045710"/>
                  </a:cubicBezTo>
                  <a:cubicBezTo>
                    <a:pt x="112280" y="5043170"/>
                    <a:pt x="124980" y="5045710"/>
                    <a:pt x="136410" y="5053330"/>
                  </a:cubicBezTo>
                  <a:cubicBezTo>
                    <a:pt x="154190" y="5066030"/>
                    <a:pt x="177050" y="5111750"/>
                    <a:pt x="180860" y="5132070"/>
                  </a:cubicBezTo>
                  <a:cubicBezTo>
                    <a:pt x="184670" y="5143500"/>
                    <a:pt x="184670" y="5149850"/>
                    <a:pt x="179590" y="5160010"/>
                  </a:cubicBezTo>
                  <a:cubicBezTo>
                    <a:pt x="173240" y="5176520"/>
                    <a:pt x="146570" y="5207000"/>
                    <a:pt x="124980" y="5212080"/>
                  </a:cubicBezTo>
                  <a:cubicBezTo>
                    <a:pt x="103390" y="5218430"/>
                    <a:pt x="67830" y="5210810"/>
                    <a:pt x="50050" y="5196840"/>
                  </a:cubicBezTo>
                  <a:cubicBezTo>
                    <a:pt x="33540" y="5182870"/>
                    <a:pt x="28460" y="5162550"/>
                    <a:pt x="20840" y="5126990"/>
                  </a:cubicBezTo>
                  <a:cubicBezTo>
                    <a:pt x="1790" y="5025390"/>
                    <a:pt x="31000" y="4784090"/>
                    <a:pt x="33540" y="4527550"/>
                  </a:cubicBezTo>
                  <a:cubicBezTo>
                    <a:pt x="38620" y="4067810"/>
                    <a:pt x="37350" y="3251200"/>
                    <a:pt x="32270" y="2600960"/>
                  </a:cubicBezTo>
                  <a:cubicBezTo>
                    <a:pt x="27190" y="1934210"/>
                    <a:pt x="-10910" y="1000760"/>
                    <a:pt x="3060" y="576580"/>
                  </a:cubicBezTo>
                  <a:cubicBezTo>
                    <a:pt x="8140" y="383540"/>
                    <a:pt x="47510" y="236220"/>
                    <a:pt x="34810" y="154940"/>
                  </a:cubicBezTo>
                  <a:cubicBezTo>
                    <a:pt x="29730" y="119380"/>
                    <a:pt x="6870" y="102870"/>
                    <a:pt x="6870" y="81280"/>
                  </a:cubicBezTo>
                  <a:cubicBezTo>
                    <a:pt x="8140" y="63500"/>
                    <a:pt x="17030" y="44450"/>
                    <a:pt x="29730" y="33020"/>
                  </a:cubicBezTo>
                  <a:cubicBezTo>
                    <a:pt x="46240" y="19050"/>
                    <a:pt x="83070" y="6350"/>
                    <a:pt x="104660" y="8890"/>
                  </a:cubicBezTo>
                  <a:cubicBezTo>
                    <a:pt x="122440" y="10160"/>
                    <a:pt x="140220" y="22860"/>
                    <a:pt x="151650" y="34290"/>
                  </a:cubicBezTo>
                  <a:cubicBezTo>
                    <a:pt x="163080" y="46990"/>
                    <a:pt x="171970" y="66040"/>
                    <a:pt x="173240" y="83820"/>
                  </a:cubicBezTo>
                  <a:cubicBezTo>
                    <a:pt x="175780" y="100330"/>
                    <a:pt x="171970" y="120650"/>
                    <a:pt x="161810" y="135890"/>
                  </a:cubicBezTo>
                  <a:cubicBezTo>
                    <a:pt x="147840" y="152400"/>
                    <a:pt x="116090" y="173990"/>
                    <a:pt x="93230" y="175260"/>
                  </a:cubicBezTo>
                  <a:cubicBezTo>
                    <a:pt x="70370" y="176530"/>
                    <a:pt x="37350" y="157480"/>
                    <a:pt x="23380" y="140970"/>
                  </a:cubicBezTo>
                  <a:cubicBezTo>
                    <a:pt x="10680" y="127000"/>
                    <a:pt x="4330" y="107950"/>
                    <a:pt x="6870" y="90170"/>
                  </a:cubicBezTo>
                  <a:cubicBezTo>
                    <a:pt x="8140" y="68580"/>
                    <a:pt x="27190" y="34290"/>
                    <a:pt x="43700" y="21590"/>
                  </a:cubicBezTo>
                  <a:cubicBezTo>
                    <a:pt x="58940" y="10160"/>
                    <a:pt x="79260" y="6350"/>
                    <a:pt x="95770" y="7620"/>
                  </a:cubicBezTo>
                  <a:cubicBezTo>
                    <a:pt x="112280" y="8890"/>
                    <a:pt x="132600" y="15240"/>
                    <a:pt x="145300" y="27940"/>
                  </a:cubicBezTo>
                  <a:cubicBezTo>
                    <a:pt x="161810" y="44450"/>
                    <a:pt x="171970" y="78740"/>
                    <a:pt x="179590" y="105410"/>
                  </a:cubicBezTo>
                  <a:cubicBezTo>
                    <a:pt x="187210" y="132080"/>
                    <a:pt x="189750" y="149860"/>
                    <a:pt x="191020" y="189230"/>
                  </a:cubicBezTo>
                  <a:cubicBezTo>
                    <a:pt x="194830" y="285750"/>
                    <a:pt x="170700" y="433070"/>
                    <a:pt x="164350" y="676910"/>
                  </a:cubicBezTo>
                  <a:cubicBezTo>
                    <a:pt x="145300" y="1416050"/>
                    <a:pt x="276110" y="4824730"/>
                    <a:pt x="184670" y="5140960"/>
                  </a:cubicBezTo>
                  <a:cubicBezTo>
                    <a:pt x="171970" y="5182870"/>
                    <a:pt x="159270" y="5193030"/>
                    <a:pt x="142760" y="5204460"/>
                  </a:cubicBezTo>
                  <a:cubicBezTo>
                    <a:pt x="131330" y="5213350"/>
                    <a:pt x="118630" y="5215890"/>
                    <a:pt x="105930" y="5215890"/>
                  </a:cubicBezTo>
                  <a:cubicBezTo>
                    <a:pt x="88150" y="5214620"/>
                    <a:pt x="64020" y="5208270"/>
                    <a:pt x="50050" y="5196840"/>
                  </a:cubicBezTo>
                  <a:cubicBezTo>
                    <a:pt x="36080" y="5185410"/>
                    <a:pt x="25920" y="5160010"/>
                    <a:pt x="22110" y="5146040"/>
                  </a:cubicBezTo>
                  <a:cubicBezTo>
                    <a:pt x="19570" y="5138420"/>
                    <a:pt x="19570" y="5126990"/>
                    <a:pt x="20840" y="5126990"/>
                  </a:cubicBezTo>
                  <a:cubicBezTo>
                    <a:pt x="25920" y="5125720"/>
                    <a:pt x="69100" y="5200650"/>
                    <a:pt x="66560" y="5201920"/>
                  </a:cubicBezTo>
                  <a:cubicBezTo>
                    <a:pt x="64020" y="5203190"/>
                    <a:pt x="33540" y="5176520"/>
                    <a:pt x="25920" y="5160010"/>
                  </a:cubicBezTo>
                  <a:cubicBezTo>
                    <a:pt x="18300" y="5143500"/>
                    <a:pt x="19570" y="5118100"/>
                    <a:pt x="23380" y="5101590"/>
                  </a:cubicBezTo>
                  <a:cubicBezTo>
                    <a:pt x="27190" y="5088890"/>
                    <a:pt x="34810" y="5077460"/>
                    <a:pt x="44970" y="5068570"/>
                  </a:cubicBezTo>
                  <a:cubicBezTo>
                    <a:pt x="57670" y="5057140"/>
                    <a:pt x="72910" y="5049520"/>
                    <a:pt x="98310" y="5045710"/>
                  </a:cubicBezTo>
                  <a:cubicBezTo>
                    <a:pt x="154190" y="5038090"/>
                    <a:pt x="272300" y="5076190"/>
                    <a:pt x="377710" y="5086350"/>
                  </a:cubicBezTo>
                  <a:cubicBezTo>
                    <a:pt x="514870" y="5099050"/>
                    <a:pt x="681240" y="5101590"/>
                    <a:pt x="850150" y="5105400"/>
                  </a:cubicBezTo>
                  <a:cubicBezTo>
                    <a:pt x="1047000" y="5110480"/>
                    <a:pt x="1241310" y="5113020"/>
                    <a:pt x="1485150" y="5110480"/>
                  </a:cubicBezTo>
                  <a:cubicBezTo>
                    <a:pt x="1814080" y="5106670"/>
                    <a:pt x="2370340" y="5078730"/>
                    <a:pt x="2647200" y="5074920"/>
                  </a:cubicBezTo>
                  <a:cubicBezTo>
                    <a:pt x="2802140" y="5072380"/>
                    <a:pt x="2851670" y="5074920"/>
                    <a:pt x="3007880" y="5077460"/>
                  </a:cubicBezTo>
                  <a:cubicBezTo>
                    <a:pt x="3302520" y="5081270"/>
                    <a:pt x="3891800" y="5077460"/>
                    <a:pt x="4275340" y="5109210"/>
                  </a:cubicBezTo>
                  <a:cubicBezTo>
                    <a:pt x="4596650" y="5137150"/>
                    <a:pt x="4892560" y="5205730"/>
                    <a:pt x="5155450" y="5236210"/>
                  </a:cubicBezTo>
                  <a:cubicBezTo>
                    <a:pt x="5371350" y="5261610"/>
                    <a:pt x="5636780" y="5388610"/>
                    <a:pt x="5742190" y="5289550"/>
                  </a:cubicBezTo>
                  <a:cubicBezTo>
                    <a:pt x="5875540" y="5165090"/>
                    <a:pt x="5732030" y="4685030"/>
                    <a:pt x="5716790" y="4358640"/>
                  </a:cubicBezTo>
                  <a:cubicBezTo>
                    <a:pt x="5700280" y="3997960"/>
                    <a:pt x="5655830" y="3543300"/>
                    <a:pt x="5640590" y="3216910"/>
                  </a:cubicBezTo>
                  <a:cubicBezTo>
                    <a:pt x="5629160" y="2974340"/>
                    <a:pt x="5626620" y="2853690"/>
                    <a:pt x="5621540" y="2578100"/>
                  </a:cubicBezTo>
                  <a:cubicBezTo>
                    <a:pt x="5612650" y="2070100"/>
                    <a:pt x="5563120" y="720090"/>
                    <a:pt x="5603760" y="416560"/>
                  </a:cubicBezTo>
                  <a:cubicBezTo>
                    <a:pt x="5615190" y="332740"/>
                    <a:pt x="5677420" y="300990"/>
                    <a:pt x="5646940" y="260350"/>
                  </a:cubicBezTo>
                  <a:cubicBezTo>
                    <a:pt x="5545340" y="123190"/>
                    <a:pt x="4342650" y="245110"/>
                    <a:pt x="3844810" y="226060"/>
                  </a:cubicBezTo>
                  <a:cubicBezTo>
                    <a:pt x="3493020" y="212090"/>
                    <a:pt x="3268230" y="186690"/>
                    <a:pt x="2944380" y="172720"/>
                  </a:cubicBezTo>
                  <a:cubicBezTo>
                    <a:pt x="2565920" y="156210"/>
                    <a:pt x="2151900" y="146050"/>
                    <a:pt x="1712480" y="138430"/>
                  </a:cubicBezTo>
                  <a:cubicBezTo>
                    <a:pt x="1208290" y="128270"/>
                    <a:pt x="232930" y="151130"/>
                    <a:pt x="84340" y="123190"/>
                  </a:cubicBezTo>
                  <a:cubicBezTo>
                    <a:pt x="60210" y="119380"/>
                    <a:pt x="53860" y="116840"/>
                    <a:pt x="43700" y="107950"/>
                  </a:cubicBezTo>
                  <a:cubicBezTo>
                    <a:pt x="33540" y="99060"/>
                    <a:pt x="24650" y="82550"/>
                    <a:pt x="23380" y="68580"/>
                  </a:cubicBezTo>
                  <a:cubicBezTo>
                    <a:pt x="20840" y="55880"/>
                    <a:pt x="24650" y="38100"/>
                    <a:pt x="33540" y="26670"/>
                  </a:cubicBezTo>
                  <a:cubicBezTo>
                    <a:pt x="43700" y="13970"/>
                    <a:pt x="84340" y="0"/>
                    <a:pt x="84340" y="0"/>
                  </a:cubicBezTo>
                </a:path>
              </a:pathLst>
            </a:custGeom>
            <a:solidFill>
              <a:srgbClr val="FFDA7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751251" y="5096241"/>
            <a:ext cx="4113920" cy="3797666"/>
            <a:chOff x="0" y="0"/>
            <a:chExt cx="5996940" cy="55359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7740" y="50800"/>
              <a:ext cx="5900870" cy="5438444"/>
            </a:xfrm>
            <a:custGeom>
              <a:avLst/>
              <a:gdLst/>
              <a:ahLst/>
              <a:cxnLst/>
              <a:rect r="r" b="b" t="t" l="l"/>
              <a:pathLst>
                <a:path h="5438444" w="5900870">
                  <a:moveTo>
                    <a:pt x="84340" y="0"/>
                  </a:moveTo>
                  <a:cubicBezTo>
                    <a:pt x="3222510" y="67310"/>
                    <a:pt x="3814330" y="113030"/>
                    <a:pt x="4359160" y="127000"/>
                  </a:cubicBezTo>
                  <a:cubicBezTo>
                    <a:pt x="4822710" y="138430"/>
                    <a:pt x="5469140" y="86360"/>
                    <a:pt x="5646940" y="133350"/>
                  </a:cubicBezTo>
                  <a:cubicBezTo>
                    <a:pt x="5697740" y="146050"/>
                    <a:pt x="5712980" y="140970"/>
                    <a:pt x="5738380" y="184150"/>
                  </a:cubicBezTo>
                  <a:cubicBezTo>
                    <a:pt x="5862840" y="394970"/>
                    <a:pt x="5729490" y="2258060"/>
                    <a:pt x="5739650" y="2729230"/>
                  </a:cubicBezTo>
                  <a:cubicBezTo>
                    <a:pt x="5743460" y="2909570"/>
                    <a:pt x="5746000" y="2951480"/>
                    <a:pt x="5756160" y="3103880"/>
                  </a:cubicBezTo>
                  <a:cubicBezTo>
                    <a:pt x="5772670" y="3347720"/>
                    <a:pt x="5823470" y="3728720"/>
                    <a:pt x="5842520" y="4044950"/>
                  </a:cubicBezTo>
                  <a:cubicBezTo>
                    <a:pt x="5862840" y="4366260"/>
                    <a:pt x="5862840" y="4792980"/>
                    <a:pt x="5875540" y="5017770"/>
                  </a:cubicBezTo>
                  <a:cubicBezTo>
                    <a:pt x="5881890" y="5135880"/>
                    <a:pt x="5911100" y="5215890"/>
                    <a:pt x="5897130" y="5289550"/>
                  </a:cubicBezTo>
                  <a:cubicBezTo>
                    <a:pt x="5888240" y="5344160"/>
                    <a:pt x="5869190" y="5401310"/>
                    <a:pt x="5833630" y="5425440"/>
                  </a:cubicBezTo>
                  <a:cubicBezTo>
                    <a:pt x="5799340" y="5448300"/>
                    <a:pt x="5749810" y="5434330"/>
                    <a:pt x="5690120" y="5433060"/>
                  </a:cubicBezTo>
                  <a:cubicBezTo>
                    <a:pt x="5589790" y="5430520"/>
                    <a:pt x="5453900" y="5414010"/>
                    <a:pt x="5290070" y="5392420"/>
                  </a:cubicBezTo>
                  <a:cubicBezTo>
                    <a:pt x="5025910" y="5359400"/>
                    <a:pt x="4502670" y="5260340"/>
                    <a:pt x="4260100" y="5234940"/>
                  </a:cubicBezTo>
                  <a:cubicBezTo>
                    <a:pt x="4129290" y="5220970"/>
                    <a:pt x="4093730" y="5222240"/>
                    <a:pt x="3956570" y="5217160"/>
                  </a:cubicBezTo>
                  <a:cubicBezTo>
                    <a:pt x="3673360" y="5207000"/>
                    <a:pt x="3059950" y="5195570"/>
                    <a:pt x="2647200" y="5201920"/>
                  </a:cubicBezTo>
                  <a:cubicBezTo>
                    <a:pt x="2277630" y="5208270"/>
                    <a:pt x="1906790" y="5238750"/>
                    <a:pt x="1595640" y="5246370"/>
                  </a:cubicBezTo>
                  <a:cubicBezTo>
                    <a:pt x="1347990" y="5253990"/>
                    <a:pt x="1157490" y="5257800"/>
                    <a:pt x="926350" y="5255260"/>
                  </a:cubicBezTo>
                  <a:cubicBezTo>
                    <a:pt x="678700" y="5252720"/>
                    <a:pt x="282460" y="5252720"/>
                    <a:pt x="154190" y="5229860"/>
                  </a:cubicBezTo>
                  <a:cubicBezTo>
                    <a:pt x="109740" y="5222240"/>
                    <a:pt x="88150" y="5215890"/>
                    <a:pt x="66560" y="5201920"/>
                  </a:cubicBezTo>
                  <a:cubicBezTo>
                    <a:pt x="48780" y="5190490"/>
                    <a:pt x="32270" y="5177790"/>
                    <a:pt x="25920" y="5160010"/>
                  </a:cubicBezTo>
                  <a:cubicBezTo>
                    <a:pt x="18300" y="5139690"/>
                    <a:pt x="19570" y="5102860"/>
                    <a:pt x="32270" y="5083810"/>
                  </a:cubicBezTo>
                  <a:cubicBezTo>
                    <a:pt x="43700" y="5064760"/>
                    <a:pt x="79260" y="5049520"/>
                    <a:pt x="98310" y="5045710"/>
                  </a:cubicBezTo>
                  <a:cubicBezTo>
                    <a:pt x="112280" y="5043170"/>
                    <a:pt x="124980" y="5045710"/>
                    <a:pt x="136410" y="5053330"/>
                  </a:cubicBezTo>
                  <a:cubicBezTo>
                    <a:pt x="154190" y="5066030"/>
                    <a:pt x="177050" y="5111750"/>
                    <a:pt x="180860" y="5132070"/>
                  </a:cubicBezTo>
                  <a:cubicBezTo>
                    <a:pt x="184670" y="5143500"/>
                    <a:pt x="184670" y="5149850"/>
                    <a:pt x="179590" y="5160010"/>
                  </a:cubicBezTo>
                  <a:cubicBezTo>
                    <a:pt x="173240" y="5176520"/>
                    <a:pt x="146570" y="5207000"/>
                    <a:pt x="124980" y="5212080"/>
                  </a:cubicBezTo>
                  <a:cubicBezTo>
                    <a:pt x="103390" y="5218430"/>
                    <a:pt x="67830" y="5210810"/>
                    <a:pt x="50050" y="5196840"/>
                  </a:cubicBezTo>
                  <a:cubicBezTo>
                    <a:pt x="33540" y="5182870"/>
                    <a:pt x="28460" y="5162550"/>
                    <a:pt x="20840" y="5126990"/>
                  </a:cubicBezTo>
                  <a:cubicBezTo>
                    <a:pt x="1790" y="5025390"/>
                    <a:pt x="31000" y="4784090"/>
                    <a:pt x="33540" y="4527550"/>
                  </a:cubicBezTo>
                  <a:cubicBezTo>
                    <a:pt x="38620" y="4067810"/>
                    <a:pt x="37350" y="3251200"/>
                    <a:pt x="32270" y="2600960"/>
                  </a:cubicBezTo>
                  <a:cubicBezTo>
                    <a:pt x="27190" y="1934210"/>
                    <a:pt x="-10910" y="1000760"/>
                    <a:pt x="3060" y="576580"/>
                  </a:cubicBezTo>
                  <a:cubicBezTo>
                    <a:pt x="8140" y="383540"/>
                    <a:pt x="47510" y="236220"/>
                    <a:pt x="34810" y="154940"/>
                  </a:cubicBezTo>
                  <a:cubicBezTo>
                    <a:pt x="29730" y="119380"/>
                    <a:pt x="6870" y="102870"/>
                    <a:pt x="6870" y="81280"/>
                  </a:cubicBezTo>
                  <a:cubicBezTo>
                    <a:pt x="8140" y="63500"/>
                    <a:pt x="17030" y="44450"/>
                    <a:pt x="29730" y="33020"/>
                  </a:cubicBezTo>
                  <a:cubicBezTo>
                    <a:pt x="46240" y="19050"/>
                    <a:pt x="83070" y="6350"/>
                    <a:pt x="104660" y="8890"/>
                  </a:cubicBezTo>
                  <a:cubicBezTo>
                    <a:pt x="122440" y="10160"/>
                    <a:pt x="140220" y="22860"/>
                    <a:pt x="151650" y="34290"/>
                  </a:cubicBezTo>
                  <a:cubicBezTo>
                    <a:pt x="163080" y="46990"/>
                    <a:pt x="171970" y="66040"/>
                    <a:pt x="173240" y="83820"/>
                  </a:cubicBezTo>
                  <a:cubicBezTo>
                    <a:pt x="175780" y="100330"/>
                    <a:pt x="171970" y="120650"/>
                    <a:pt x="161810" y="135890"/>
                  </a:cubicBezTo>
                  <a:cubicBezTo>
                    <a:pt x="147840" y="152400"/>
                    <a:pt x="116090" y="173990"/>
                    <a:pt x="93230" y="175260"/>
                  </a:cubicBezTo>
                  <a:cubicBezTo>
                    <a:pt x="70370" y="176530"/>
                    <a:pt x="37350" y="157480"/>
                    <a:pt x="23380" y="140970"/>
                  </a:cubicBezTo>
                  <a:cubicBezTo>
                    <a:pt x="10680" y="127000"/>
                    <a:pt x="4330" y="107950"/>
                    <a:pt x="6870" y="90170"/>
                  </a:cubicBezTo>
                  <a:cubicBezTo>
                    <a:pt x="8140" y="68580"/>
                    <a:pt x="27190" y="34290"/>
                    <a:pt x="43700" y="21590"/>
                  </a:cubicBezTo>
                  <a:cubicBezTo>
                    <a:pt x="58940" y="10160"/>
                    <a:pt x="79260" y="6350"/>
                    <a:pt x="95770" y="7620"/>
                  </a:cubicBezTo>
                  <a:cubicBezTo>
                    <a:pt x="112280" y="8890"/>
                    <a:pt x="132600" y="15240"/>
                    <a:pt x="145300" y="27940"/>
                  </a:cubicBezTo>
                  <a:cubicBezTo>
                    <a:pt x="161810" y="44450"/>
                    <a:pt x="171970" y="78740"/>
                    <a:pt x="179590" y="105410"/>
                  </a:cubicBezTo>
                  <a:cubicBezTo>
                    <a:pt x="187210" y="132080"/>
                    <a:pt x="189750" y="149860"/>
                    <a:pt x="191020" y="189230"/>
                  </a:cubicBezTo>
                  <a:cubicBezTo>
                    <a:pt x="194830" y="285750"/>
                    <a:pt x="170700" y="433070"/>
                    <a:pt x="164350" y="676910"/>
                  </a:cubicBezTo>
                  <a:cubicBezTo>
                    <a:pt x="145300" y="1416050"/>
                    <a:pt x="276110" y="4824730"/>
                    <a:pt x="184670" y="5140960"/>
                  </a:cubicBezTo>
                  <a:cubicBezTo>
                    <a:pt x="171970" y="5182870"/>
                    <a:pt x="159270" y="5193030"/>
                    <a:pt x="142760" y="5204460"/>
                  </a:cubicBezTo>
                  <a:cubicBezTo>
                    <a:pt x="131330" y="5213350"/>
                    <a:pt x="118630" y="5215890"/>
                    <a:pt x="105930" y="5215890"/>
                  </a:cubicBezTo>
                  <a:cubicBezTo>
                    <a:pt x="88150" y="5214620"/>
                    <a:pt x="64020" y="5208270"/>
                    <a:pt x="50050" y="5196840"/>
                  </a:cubicBezTo>
                  <a:cubicBezTo>
                    <a:pt x="36080" y="5185410"/>
                    <a:pt x="25920" y="5160010"/>
                    <a:pt x="22110" y="5146040"/>
                  </a:cubicBezTo>
                  <a:cubicBezTo>
                    <a:pt x="19570" y="5138420"/>
                    <a:pt x="19570" y="5126990"/>
                    <a:pt x="20840" y="5126990"/>
                  </a:cubicBezTo>
                  <a:cubicBezTo>
                    <a:pt x="25920" y="5125720"/>
                    <a:pt x="69100" y="5200650"/>
                    <a:pt x="66560" y="5201920"/>
                  </a:cubicBezTo>
                  <a:cubicBezTo>
                    <a:pt x="64020" y="5203190"/>
                    <a:pt x="33540" y="5176520"/>
                    <a:pt x="25920" y="5160010"/>
                  </a:cubicBezTo>
                  <a:cubicBezTo>
                    <a:pt x="18300" y="5143500"/>
                    <a:pt x="19570" y="5118100"/>
                    <a:pt x="23380" y="5101590"/>
                  </a:cubicBezTo>
                  <a:cubicBezTo>
                    <a:pt x="27190" y="5088890"/>
                    <a:pt x="34810" y="5077460"/>
                    <a:pt x="44970" y="5068570"/>
                  </a:cubicBezTo>
                  <a:cubicBezTo>
                    <a:pt x="57670" y="5057140"/>
                    <a:pt x="72910" y="5049520"/>
                    <a:pt x="98310" y="5045710"/>
                  </a:cubicBezTo>
                  <a:cubicBezTo>
                    <a:pt x="154190" y="5038090"/>
                    <a:pt x="272300" y="5076190"/>
                    <a:pt x="377710" y="5086350"/>
                  </a:cubicBezTo>
                  <a:cubicBezTo>
                    <a:pt x="514870" y="5099050"/>
                    <a:pt x="681240" y="5101590"/>
                    <a:pt x="850150" y="5105400"/>
                  </a:cubicBezTo>
                  <a:cubicBezTo>
                    <a:pt x="1047000" y="5110480"/>
                    <a:pt x="1241310" y="5113020"/>
                    <a:pt x="1485150" y="5110480"/>
                  </a:cubicBezTo>
                  <a:cubicBezTo>
                    <a:pt x="1814080" y="5106670"/>
                    <a:pt x="2370340" y="5078730"/>
                    <a:pt x="2647200" y="5074920"/>
                  </a:cubicBezTo>
                  <a:cubicBezTo>
                    <a:pt x="2802140" y="5072380"/>
                    <a:pt x="2851670" y="5074920"/>
                    <a:pt x="3007880" y="5077460"/>
                  </a:cubicBezTo>
                  <a:cubicBezTo>
                    <a:pt x="3302520" y="5081270"/>
                    <a:pt x="3891800" y="5077460"/>
                    <a:pt x="4275340" y="5109210"/>
                  </a:cubicBezTo>
                  <a:cubicBezTo>
                    <a:pt x="4596650" y="5137150"/>
                    <a:pt x="4892560" y="5205730"/>
                    <a:pt x="5155450" y="5236210"/>
                  </a:cubicBezTo>
                  <a:cubicBezTo>
                    <a:pt x="5371350" y="5261610"/>
                    <a:pt x="5636780" y="5388610"/>
                    <a:pt x="5742190" y="5289550"/>
                  </a:cubicBezTo>
                  <a:cubicBezTo>
                    <a:pt x="5875540" y="5165090"/>
                    <a:pt x="5732030" y="4685030"/>
                    <a:pt x="5716790" y="4358640"/>
                  </a:cubicBezTo>
                  <a:cubicBezTo>
                    <a:pt x="5700280" y="3997960"/>
                    <a:pt x="5655830" y="3543300"/>
                    <a:pt x="5640590" y="3216910"/>
                  </a:cubicBezTo>
                  <a:cubicBezTo>
                    <a:pt x="5629160" y="2974340"/>
                    <a:pt x="5626620" y="2853690"/>
                    <a:pt x="5621540" y="2578100"/>
                  </a:cubicBezTo>
                  <a:cubicBezTo>
                    <a:pt x="5612650" y="2070100"/>
                    <a:pt x="5563120" y="720090"/>
                    <a:pt x="5603760" y="416560"/>
                  </a:cubicBezTo>
                  <a:cubicBezTo>
                    <a:pt x="5615190" y="332740"/>
                    <a:pt x="5677420" y="300990"/>
                    <a:pt x="5646940" y="260350"/>
                  </a:cubicBezTo>
                  <a:cubicBezTo>
                    <a:pt x="5545340" y="123190"/>
                    <a:pt x="4342650" y="245110"/>
                    <a:pt x="3844810" y="226060"/>
                  </a:cubicBezTo>
                  <a:cubicBezTo>
                    <a:pt x="3493020" y="212090"/>
                    <a:pt x="3268230" y="186690"/>
                    <a:pt x="2944380" y="172720"/>
                  </a:cubicBezTo>
                  <a:cubicBezTo>
                    <a:pt x="2565920" y="156210"/>
                    <a:pt x="2151900" y="146050"/>
                    <a:pt x="1712480" y="138430"/>
                  </a:cubicBezTo>
                  <a:cubicBezTo>
                    <a:pt x="1208290" y="128270"/>
                    <a:pt x="232930" y="151130"/>
                    <a:pt x="84340" y="123190"/>
                  </a:cubicBezTo>
                  <a:cubicBezTo>
                    <a:pt x="60210" y="119380"/>
                    <a:pt x="53860" y="116840"/>
                    <a:pt x="43700" y="107950"/>
                  </a:cubicBezTo>
                  <a:cubicBezTo>
                    <a:pt x="33540" y="99060"/>
                    <a:pt x="24650" y="82550"/>
                    <a:pt x="23380" y="68580"/>
                  </a:cubicBezTo>
                  <a:cubicBezTo>
                    <a:pt x="20840" y="55880"/>
                    <a:pt x="24650" y="38100"/>
                    <a:pt x="33540" y="26670"/>
                  </a:cubicBezTo>
                  <a:cubicBezTo>
                    <a:pt x="43700" y="13970"/>
                    <a:pt x="84340" y="0"/>
                    <a:pt x="84340" y="0"/>
                  </a:cubicBezTo>
                </a:path>
              </a:pathLst>
            </a:custGeom>
            <a:solidFill>
              <a:srgbClr val="FFC2B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9656510" y="1690219"/>
            <a:ext cx="1413380" cy="1716025"/>
          </a:xfrm>
          <a:custGeom>
            <a:avLst/>
            <a:gdLst/>
            <a:ahLst/>
            <a:cxnLst/>
            <a:rect r="r" b="b" t="t" l="l"/>
            <a:pathLst>
              <a:path h="1716025" w="1413380">
                <a:moveTo>
                  <a:pt x="0" y="0"/>
                </a:moveTo>
                <a:lnTo>
                  <a:pt x="1413380" y="0"/>
                </a:lnTo>
                <a:lnTo>
                  <a:pt x="1413380" y="1716025"/>
                </a:lnTo>
                <a:lnTo>
                  <a:pt x="0" y="1716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233676" y="5869286"/>
            <a:ext cx="1315934" cy="1308756"/>
          </a:xfrm>
          <a:custGeom>
            <a:avLst/>
            <a:gdLst/>
            <a:ahLst/>
            <a:cxnLst/>
            <a:rect r="r" b="b" t="t" l="l"/>
            <a:pathLst>
              <a:path h="1308756" w="1315934">
                <a:moveTo>
                  <a:pt x="0" y="0"/>
                </a:moveTo>
                <a:lnTo>
                  <a:pt x="1315933" y="0"/>
                </a:lnTo>
                <a:lnTo>
                  <a:pt x="1315933" y="1308756"/>
                </a:lnTo>
                <a:lnTo>
                  <a:pt x="0" y="1308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918183" y="1634578"/>
            <a:ext cx="1780055" cy="1650597"/>
          </a:xfrm>
          <a:custGeom>
            <a:avLst/>
            <a:gdLst/>
            <a:ahLst/>
            <a:cxnLst/>
            <a:rect r="r" b="b" t="t" l="l"/>
            <a:pathLst>
              <a:path h="1650597" w="1780055">
                <a:moveTo>
                  <a:pt x="0" y="0"/>
                </a:moveTo>
                <a:lnTo>
                  <a:pt x="1780055" y="0"/>
                </a:lnTo>
                <a:lnTo>
                  <a:pt x="1780055" y="1650597"/>
                </a:lnTo>
                <a:lnTo>
                  <a:pt x="0" y="1650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526988" y="5774113"/>
            <a:ext cx="1672425" cy="1499101"/>
          </a:xfrm>
          <a:custGeom>
            <a:avLst/>
            <a:gdLst/>
            <a:ahLst/>
            <a:cxnLst/>
            <a:rect r="r" b="b" t="t" l="l"/>
            <a:pathLst>
              <a:path h="1499101" w="1672425">
                <a:moveTo>
                  <a:pt x="0" y="0"/>
                </a:moveTo>
                <a:lnTo>
                  <a:pt x="1672425" y="0"/>
                </a:lnTo>
                <a:lnTo>
                  <a:pt x="1672425" y="1499101"/>
                </a:lnTo>
                <a:lnTo>
                  <a:pt x="0" y="1499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06552" y="4745743"/>
            <a:ext cx="8019353" cy="4498661"/>
          </a:xfrm>
          <a:custGeom>
            <a:avLst/>
            <a:gdLst/>
            <a:ahLst/>
            <a:cxnLst/>
            <a:rect r="r" b="b" t="t" l="l"/>
            <a:pathLst>
              <a:path h="4498661" w="8019353">
                <a:moveTo>
                  <a:pt x="0" y="0"/>
                </a:moveTo>
                <a:lnTo>
                  <a:pt x="8019352" y="0"/>
                </a:lnTo>
                <a:lnTo>
                  <a:pt x="8019352" y="4498661"/>
                </a:lnTo>
                <a:lnTo>
                  <a:pt x="0" y="44986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903860" y="3444598"/>
            <a:ext cx="2918680" cy="52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4"/>
              </a:lnSpc>
            </a:pPr>
            <a:r>
              <a:rPr lang="en-US" sz="3567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Real-T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ime Tracki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03860" y="7463125"/>
            <a:ext cx="2918680" cy="52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4"/>
              </a:lnSpc>
            </a:pPr>
            <a:r>
              <a:rPr lang="en-US" sz="3567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Da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t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a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 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A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nal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ytics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5853" y="2337793"/>
            <a:ext cx="7280749" cy="66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9"/>
              </a:lnSpc>
            </a:pPr>
            <a:r>
              <a:rPr lang="en-US" b="true" sz="3999" spc="-311" u="sng">
                <a:solidFill>
                  <a:srgbClr val="25282A"/>
                </a:solidFill>
                <a:latin typeface="Arial Bold"/>
                <a:ea typeface="Arial Bold"/>
                <a:cs typeface="Arial Bold"/>
                <a:sym typeface="Arial Bold"/>
              </a:rPr>
              <a:t>Techn</a:t>
            </a:r>
            <a:r>
              <a:rPr lang="en-US" b="true" sz="3999" spc="-311" u="sng">
                <a:solidFill>
                  <a:srgbClr val="25282A"/>
                </a:solidFill>
                <a:latin typeface="Arial Bold"/>
                <a:ea typeface="Arial Bold"/>
                <a:cs typeface="Arial Bold"/>
                <a:sym typeface="Arial Bold"/>
              </a:rPr>
              <a:t>ology &amp; Innovation Study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66130" y="3444598"/>
            <a:ext cx="2484162" cy="95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4"/>
              </a:lnSpc>
            </a:pPr>
            <a:r>
              <a:rPr lang="en-US" sz="3567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AI &amp; Machine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 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L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e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a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r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n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i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66130" y="7463125"/>
            <a:ext cx="2484162" cy="95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4"/>
              </a:lnSpc>
            </a:pPr>
            <a:r>
              <a:rPr lang="en-US" sz="3567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Mobile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 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A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p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p &amp; Web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s</a:t>
            </a:r>
            <a:r>
              <a:rPr lang="en-US" sz="3567" strike="noStrike" u="none">
                <a:solidFill>
                  <a:srgbClr val="25282A"/>
                </a:solidFill>
                <a:latin typeface="Ballpoint"/>
                <a:ea typeface="Ballpoint"/>
                <a:cs typeface="Ballpoint"/>
                <a:sym typeface="Ballpoint"/>
              </a:rPr>
              <a:t>ite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235375" y="2624829"/>
          <a:ext cx="15817250" cy="6275098"/>
        </p:xfrm>
        <a:graphic>
          <a:graphicData uri="http://schemas.openxmlformats.org/drawingml/2006/table">
            <a:tbl>
              <a:tblPr/>
              <a:tblGrid>
                <a:gridCol w="5441916"/>
                <a:gridCol w="5182496"/>
                <a:gridCol w="5192839"/>
              </a:tblGrid>
              <a:tr h="10207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4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Po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sitiv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 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Reviews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2544"/>
                        </a:lnSpc>
                        <a:spcBef>
                          <a:spcPct val="0"/>
                        </a:spcBef>
                      </a:pPr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FEB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4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pc="79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=  Neut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R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views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2544"/>
                        </a:lnSpc>
                        <a:spcBef>
                          <a:spcPct val="0"/>
                        </a:spcBef>
                      </a:pPr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B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4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00" spc="79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gative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b="true" sz="2400" spc="79" strike="noStrike" u="none">
                          <a:solidFill>
                            <a:srgbClr val="3A3A3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Reviews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2544"/>
                        </a:lnSpc>
                        <a:spcBef>
                          <a:spcPct val="0"/>
                        </a:spcBef>
                      </a:pPr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84"/>
                    </a:solidFill>
                  </a:tcPr>
                </a:tc>
              </a:tr>
              <a:tr h="1050875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time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-sav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 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ilit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lo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B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ate deliveries in peak hours</a:t>
                      </a:r>
                      <a:endParaRPr lang="en-US" sz="1100"/>
                    </a:p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</a:pPr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84"/>
                    </a:solidFill>
                  </a:tcPr>
                </a:tc>
              </a:tr>
              <a:tr h="1050875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 door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deli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om tr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dit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nal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tore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B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de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ivery fees</a:t>
                      </a:r>
                      <a:endParaRPr lang="en-US" sz="1100"/>
                    </a:p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</a:pPr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84"/>
                    </a:solidFill>
                  </a:tcPr>
                </a:tc>
              </a:tr>
              <a:tr h="1050875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y-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mo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ile 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customer support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B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ppo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rt 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xp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ience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ry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84"/>
                    </a:solidFill>
                  </a:tcPr>
                </a:tc>
              </a:tr>
              <a:tr h="1050875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 range o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produ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cts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124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B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 Cancellation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84"/>
                    </a:solidFill>
                  </a:tcPr>
                </a:tc>
              </a:tr>
              <a:tr h="1050875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1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 purc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n-US" sz="2000" spc="22" strike="noStrike" u="non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124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6B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124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0892" marR="100892" marT="100892" marB="100892" anchor="ctr">
                    <a:lnL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383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84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882002" y="2804658"/>
            <a:ext cx="584039" cy="584039"/>
            <a:chOff x="0" y="0"/>
            <a:chExt cx="778718" cy="77871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78718" cy="778718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596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43665" y="165407"/>
              <a:ext cx="491388" cy="387329"/>
            </a:xfrm>
            <a:custGeom>
              <a:avLst/>
              <a:gdLst/>
              <a:ahLst/>
              <a:cxnLst/>
              <a:rect r="r" b="b" t="t" l="l"/>
              <a:pathLst>
                <a:path h="387329" w="491388">
                  <a:moveTo>
                    <a:pt x="0" y="0"/>
                  </a:moveTo>
                  <a:lnTo>
                    <a:pt x="491388" y="0"/>
                  </a:lnTo>
                  <a:lnTo>
                    <a:pt x="491388" y="387329"/>
                  </a:lnTo>
                  <a:lnTo>
                    <a:pt x="0" y="38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409726" y="2804658"/>
            <a:ext cx="584039" cy="584039"/>
            <a:chOff x="0" y="0"/>
            <a:chExt cx="778718" cy="77871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78718" cy="77871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596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3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19186" y="215947"/>
              <a:ext cx="340347" cy="340347"/>
            </a:xfrm>
            <a:custGeom>
              <a:avLst/>
              <a:gdLst/>
              <a:ahLst/>
              <a:cxnLst/>
              <a:rect r="r" b="b" t="t" l="l"/>
              <a:pathLst>
                <a:path h="340347" w="340347">
                  <a:moveTo>
                    <a:pt x="0" y="0"/>
                  </a:moveTo>
                  <a:lnTo>
                    <a:pt x="340347" y="0"/>
                  </a:lnTo>
                  <a:lnTo>
                    <a:pt x="340347" y="340347"/>
                  </a:lnTo>
                  <a:lnTo>
                    <a:pt x="0" y="340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5375" y="1042429"/>
            <a:ext cx="15817250" cy="1427228"/>
            <a:chOff x="0" y="0"/>
            <a:chExt cx="4165860" cy="375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65860" cy="375895"/>
            </a:xfrm>
            <a:custGeom>
              <a:avLst/>
              <a:gdLst/>
              <a:ahLst/>
              <a:cxnLst/>
              <a:rect r="r" b="b" t="t" l="l"/>
              <a:pathLst>
                <a:path h="375895" w="4165860">
                  <a:moveTo>
                    <a:pt x="6363" y="0"/>
                  </a:moveTo>
                  <a:lnTo>
                    <a:pt x="4159497" y="0"/>
                  </a:lnTo>
                  <a:cubicBezTo>
                    <a:pt x="4163011" y="0"/>
                    <a:pt x="4165860" y="2849"/>
                    <a:pt x="4165860" y="6363"/>
                  </a:cubicBezTo>
                  <a:lnTo>
                    <a:pt x="4165860" y="369532"/>
                  </a:lnTo>
                  <a:cubicBezTo>
                    <a:pt x="4165860" y="373047"/>
                    <a:pt x="4163011" y="375895"/>
                    <a:pt x="4159497" y="375895"/>
                  </a:cubicBezTo>
                  <a:lnTo>
                    <a:pt x="6363" y="375895"/>
                  </a:lnTo>
                  <a:cubicBezTo>
                    <a:pt x="2849" y="375895"/>
                    <a:pt x="0" y="373047"/>
                    <a:pt x="0" y="369532"/>
                  </a:cubicBezTo>
                  <a:lnTo>
                    <a:pt x="0" y="6363"/>
                  </a:lnTo>
                  <a:cubicBezTo>
                    <a:pt x="0" y="2849"/>
                    <a:pt x="2849" y="0"/>
                    <a:pt x="6363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4F596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165860" cy="385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1369049"/>
            <a:ext cx="16230600" cy="112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58"/>
              </a:lnSpc>
            </a:pPr>
            <a:r>
              <a:rPr lang="en-US" b="true" sz="4299" spc="-391" u="sng">
                <a:solidFill>
                  <a:srgbClr val="363744"/>
                </a:solidFill>
                <a:latin typeface="Arial Bold"/>
                <a:ea typeface="Arial Bold"/>
                <a:cs typeface="Arial Bold"/>
                <a:sym typeface="Arial Bold"/>
              </a:rPr>
              <a:t>CUSTOME</a:t>
            </a:r>
            <a:r>
              <a:rPr lang="en-US" b="true" sz="4299" spc="-391" u="sng">
                <a:solidFill>
                  <a:srgbClr val="363744"/>
                </a:solidFill>
                <a:latin typeface="Arial Bold"/>
                <a:ea typeface="Arial Bold"/>
                <a:cs typeface="Arial Bold"/>
                <a:sym typeface="Arial Bold"/>
              </a:rPr>
              <a:t>R REVIEW &amp; SENTIMENT ANALYSIS</a:t>
            </a:r>
          </a:p>
          <a:p>
            <a:pPr algn="ctr" marL="0" indent="0" lvl="0">
              <a:lnSpc>
                <a:spcPts val="384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28128" y="2652127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3558" y="3802713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3558" y="4953725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3558" y="6104737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35960" y="3802713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44349" y="4953300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43211" y="6103886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3558" y="7205093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43211" y="7204242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33174" y="2652127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641006" y="3802713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49395" y="4953300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648257" y="6103886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48257" y="7204242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38220" y="2652127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46052" y="3802713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54441" y="4953300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53302" y="6103886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053302" y="7204242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442869" y="2652127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450701" y="3802713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59090" y="4953300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457952" y="6103886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457952" y="7204242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52910" y="8300037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252562" y="8299186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657608" y="8299186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062654" y="8299186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67303" y="8299186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9" y="0"/>
                </a:lnTo>
                <a:lnTo>
                  <a:pt x="2270769" y="1015652"/>
                </a:lnTo>
                <a:lnTo>
                  <a:pt x="0" y="10156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14485" y="2661073"/>
            <a:ext cx="2270768" cy="1015653"/>
          </a:xfrm>
          <a:custGeom>
            <a:avLst/>
            <a:gdLst/>
            <a:ahLst/>
            <a:cxnLst/>
            <a:rect r="r" b="b" t="t" l="l"/>
            <a:pathLst>
              <a:path h="1015653" w="2270768">
                <a:moveTo>
                  <a:pt x="0" y="0"/>
                </a:moveTo>
                <a:lnTo>
                  <a:pt x="2270768" y="0"/>
                </a:lnTo>
                <a:lnTo>
                  <a:pt x="2270768" y="1015653"/>
                </a:lnTo>
                <a:lnTo>
                  <a:pt x="0" y="101565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825108" y="3376857"/>
            <a:ext cx="5356720" cy="3571147"/>
          </a:xfrm>
          <a:custGeom>
            <a:avLst/>
            <a:gdLst/>
            <a:ahLst/>
            <a:cxnLst/>
            <a:rect r="r" b="b" t="t" l="l"/>
            <a:pathLst>
              <a:path h="3571147" w="5356720">
                <a:moveTo>
                  <a:pt x="0" y="0"/>
                </a:moveTo>
                <a:lnTo>
                  <a:pt x="5356721" y="0"/>
                </a:lnTo>
                <a:lnTo>
                  <a:pt x="5356721" y="3571147"/>
                </a:lnTo>
                <a:lnTo>
                  <a:pt x="0" y="35711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98000"/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266035" y="2984617"/>
            <a:ext cx="2232861" cy="36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2"/>
              </a:lnSpc>
            </a:pPr>
            <a:r>
              <a:rPr lang="en-US" b="true" sz="2535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Zepto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4207" y="4134334"/>
            <a:ext cx="2280120" cy="60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9"/>
              </a:lnSpc>
            </a:pPr>
            <a:r>
              <a:rPr lang="en-US" b="true" sz="2199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D</a:t>
            </a:r>
            <a:r>
              <a:rPr lang="en-US" b="true" sz="2199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elivery Time</a:t>
            </a:r>
          </a:p>
          <a:p>
            <a:pPr algn="ctr" marL="0" indent="0" lvl="0">
              <a:lnSpc>
                <a:spcPts val="2309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834207" y="5307087"/>
            <a:ext cx="2280120" cy="31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9"/>
              </a:lnSpc>
            </a:pPr>
            <a:r>
              <a:rPr lang="en-US" b="true" sz="2199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App R</a:t>
            </a:r>
            <a:r>
              <a:rPr lang="en-US" b="true" sz="2199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ating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34207" y="6436357"/>
            <a:ext cx="2280120" cy="31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9"/>
              </a:lnSpc>
            </a:pPr>
            <a:r>
              <a:rPr lang="en-US" b="true" sz="2199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Membership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34207" y="7536713"/>
            <a:ext cx="2280120" cy="31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9"/>
              </a:lnSpc>
            </a:pPr>
            <a:r>
              <a:rPr lang="en-US" b="true" sz="2199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Avg De</a:t>
            </a:r>
            <a:r>
              <a:rPr lang="en-US" b="true" sz="2199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livery Fee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671081" y="2984617"/>
            <a:ext cx="2232861" cy="36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2"/>
              </a:lnSpc>
            </a:pPr>
            <a:r>
              <a:rPr lang="en-US" b="true" sz="2535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Blinkit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97576" y="2782863"/>
            <a:ext cx="2232861" cy="69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2"/>
              </a:lnSpc>
            </a:pPr>
            <a:r>
              <a:rPr lang="en-US" b="true" sz="2535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Swiggy Instam</a:t>
            </a:r>
            <a:r>
              <a:rPr lang="en-US" b="true" sz="2535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art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1066800"/>
            <a:ext cx="162306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</a:pPr>
            <a:r>
              <a:rPr lang="en-US" b="true" sz="3600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COMPETITOR BENCHMARKING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50701" y="3011463"/>
            <a:ext cx="2232861" cy="36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2"/>
              </a:lnSpc>
            </a:pPr>
            <a:r>
              <a:rPr lang="en-US" b="true" sz="2535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F</a:t>
            </a:r>
            <a:r>
              <a:rPr lang="en-US" b="true" sz="2535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lipkart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43558" y="8639845"/>
            <a:ext cx="2280120" cy="31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9"/>
              </a:lnSpc>
            </a:pPr>
            <a:r>
              <a:rPr lang="en-US" b="true" sz="2199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Product R</a:t>
            </a:r>
            <a:r>
              <a:rPr lang="en-US" b="true" sz="2199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ange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266035" y="8334194"/>
            <a:ext cx="2270768" cy="88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Grocery, beauty, lifestyle, electronics, etc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620820" y="8431888"/>
            <a:ext cx="2270768" cy="88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Grocery, household, electronics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171570" y="8374499"/>
            <a:ext cx="2270768" cy="88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Grocery, electronics, beauty, fashion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67303" y="8374499"/>
            <a:ext cx="2270768" cy="88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Groceries + wider e-commerce categories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350052" y="5278512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4.7</a:t>
            </a: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 ⭐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671081" y="5295876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4.7</a:t>
            </a: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 ⭐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273516" y="5224276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4.6 ⭐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571054" y="5256516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4.6</a:t>
            </a: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 ⭐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767451" y="4157359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15 Minutes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171570" y="4157359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10 - 15 Mintues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699513" y="4098073"/>
            <a:ext cx="2270768" cy="59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10 - 15</a:t>
            </a: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 Mintues</a:t>
            </a:r>
          </a:p>
          <a:p>
            <a:pPr algn="ctr">
              <a:lnSpc>
                <a:spcPts val="2303"/>
              </a:lnSpc>
              <a:spcBef>
                <a:spcPct val="0"/>
              </a:spcBef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3400313" y="4119204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10 - 13 Minutes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400313" y="6407102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Zepto</a:t>
            </a: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 Pass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726808" y="6278046"/>
            <a:ext cx="2270768" cy="59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Bistro/loyalty offers</a:t>
            </a: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 vary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130926" y="6349952"/>
            <a:ext cx="2270768" cy="59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Swiggy</a:t>
            </a: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 One / One Lite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442338" y="6492827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Flipkart</a:t>
            </a: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 Plus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400313" y="7525334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₹30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671081" y="7508138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₹45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044309" y="7542530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₹40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544284" y="7542530"/>
            <a:ext cx="2270768" cy="3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b="true" sz="1968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₹50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57360" y="2783061"/>
            <a:ext cx="2051693" cy="76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1"/>
              </a:lnSpc>
              <a:spcBef>
                <a:spcPct val="0"/>
              </a:spcBef>
            </a:pPr>
            <a:r>
              <a:rPr lang="en-US" b="true" sz="2540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Com</a:t>
            </a:r>
            <a:r>
              <a:rPr lang="en-US" b="true" sz="2540">
                <a:solidFill>
                  <a:srgbClr val="4E4B51"/>
                </a:solidFill>
                <a:latin typeface="Arial Bold"/>
                <a:ea typeface="Arial Bold"/>
                <a:cs typeface="Arial Bold"/>
                <a:sym typeface="Arial Bold"/>
              </a:rPr>
              <a:t>parison Criteria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78275"/>
            <a:ext cx="7242734" cy="1107200"/>
            <a:chOff x="0" y="0"/>
            <a:chExt cx="9656979" cy="147626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9656979" cy="764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b="true" sz="3600" spc="107" u="sng">
                  <a:solidFill>
                    <a:srgbClr val="2C92D5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Market Share Comparison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897063"/>
              <a:ext cx="9656979" cy="579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 spc="129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E-Commerce Market share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09759" y="477867"/>
            <a:ext cx="12689455" cy="9607117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38845">
            <a:off x="10343904" y="2217860"/>
            <a:ext cx="5621166" cy="5621166"/>
          </a:xfrm>
          <a:custGeom>
            <a:avLst/>
            <a:gdLst/>
            <a:ahLst/>
            <a:cxnLst/>
            <a:rect r="r" b="b" t="t" l="l"/>
            <a:pathLst>
              <a:path h="5621166" w="5621166">
                <a:moveTo>
                  <a:pt x="0" y="0"/>
                </a:moveTo>
                <a:lnTo>
                  <a:pt x="5621165" y="0"/>
                </a:lnTo>
                <a:lnTo>
                  <a:pt x="5621165" y="5621166"/>
                </a:lnTo>
                <a:lnTo>
                  <a:pt x="0" y="5621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0">
            <a:off x="1028700" y="4117619"/>
            <a:ext cx="293489" cy="293489"/>
          </a:xfrm>
          <a:prstGeom prst="rect">
            <a:avLst/>
          </a:prstGeom>
          <a:solidFill>
            <a:srgbClr val="FFDE59"/>
          </a:solidFill>
        </p:spPr>
      </p:sp>
      <p:sp>
        <p:nvSpPr>
          <p:cNvPr name="AutoShape 8" id="8"/>
          <p:cNvSpPr/>
          <p:nvPr/>
        </p:nvSpPr>
        <p:spPr>
          <a:xfrm rot="0">
            <a:off x="1028700" y="5142801"/>
            <a:ext cx="293489" cy="293489"/>
          </a:xfrm>
          <a:prstGeom prst="rect">
            <a:avLst/>
          </a:prstGeom>
          <a:solidFill>
            <a:srgbClr val="8C52FF"/>
          </a:solidFill>
        </p:spPr>
      </p:sp>
      <p:sp>
        <p:nvSpPr>
          <p:cNvPr name="AutoShape 9" id="9"/>
          <p:cNvSpPr/>
          <p:nvPr/>
        </p:nvSpPr>
        <p:spPr>
          <a:xfrm rot="0">
            <a:off x="1028700" y="6167982"/>
            <a:ext cx="293489" cy="293489"/>
          </a:xfrm>
          <a:prstGeom prst="rect">
            <a:avLst/>
          </a:prstGeom>
          <a:solidFill>
            <a:srgbClr val="FF914D"/>
          </a:solidFill>
        </p:spPr>
      </p:sp>
      <p:sp>
        <p:nvSpPr>
          <p:cNvPr name="AutoShape 10" id="10"/>
          <p:cNvSpPr/>
          <p:nvPr/>
        </p:nvSpPr>
        <p:spPr>
          <a:xfrm rot="0">
            <a:off x="1028700" y="7193164"/>
            <a:ext cx="293489" cy="293489"/>
          </a:xfrm>
          <a:prstGeom prst="rect">
            <a:avLst/>
          </a:prstGeom>
          <a:solidFill>
            <a:srgbClr val="D6483A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1703189" y="6871913"/>
            <a:ext cx="3640416" cy="9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spc="139">
                <a:solidFill>
                  <a:srgbClr val="13538A"/>
                </a:solidFill>
                <a:latin typeface="Aileron"/>
                <a:ea typeface="Aileron"/>
                <a:cs typeface="Aileron"/>
                <a:sym typeface="Aileron"/>
              </a:rPr>
              <a:t>SWIGGY INSTAMART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3189" y="6075332"/>
            <a:ext cx="3640416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spc="139">
                <a:solidFill>
                  <a:srgbClr val="13538A"/>
                </a:solidFill>
                <a:latin typeface="Aileron"/>
                <a:ea typeface="Aileron"/>
                <a:cs typeface="Aileron"/>
                <a:sym typeface="Aileron"/>
              </a:rPr>
              <a:t>FLIPKART MINUTES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189" y="5050150"/>
            <a:ext cx="3640416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spc="139">
                <a:solidFill>
                  <a:srgbClr val="13538A"/>
                </a:solidFill>
                <a:latin typeface="Aileron"/>
                <a:ea typeface="Aileron"/>
                <a:cs typeface="Aileron"/>
                <a:sym typeface="Aileron"/>
              </a:rPr>
              <a:t>ZEPTO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189" y="4024969"/>
            <a:ext cx="3640416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spc="139">
                <a:solidFill>
                  <a:srgbClr val="13538A"/>
                </a:solidFill>
                <a:latin typeface="Aileron"/>
                <a:ea typeface="Aileron"/>
                <a:cs typeface="Aileron"/>
                <a:sym typeface="Aileron"/>
              </a:rPr>
              <a:t>BLINKIT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0750" y="2000250"/>
            <a:ext cx="3143250" cy="3143250"/>
            <a:chOff x="0" y="0"/>
            <a:chExt cx="827852" cy="827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7852" cy="827852"/>
            </a:xfrm>
            <a:custGeom>
              <a:avLst/>
              <a:gdLst/>
              <a:ahLst/>
              <a:cxnLst/>
              <a:rect r="r" b="b" t="t" l="l"/>
              <a:pathLst>
                <a:path h="827852" w="827852">
                  <a:moveTo>
                    <a:pt x="0" y="0"/>
                  </a:moveTo>
                  <a:lnTo>
                    <a:pt x="827852" y="0"/>
                  </a:lnTo>
                  <a:lnTo>
                    <a:pt x="827852" y="827852"/>
                  </a:lnTo>
                  <a:lnTo>
                    <a:pt x="0" y="827852"/>
                  </a:lnTo>
                  <a:close/>
                </a:path>
              </a:pathLst>
            </a:custGeom>
            <a:solidFill>
              <a:srgbClr val="7B1C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71450"/>
              <a:ext cx="827852" cy="999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19"/>
                </a:lnSpc>
              </a:pPr>
              <a:r>
                <a:rPr lang="en-US" b="true" sz="8799">
                  <a:solidFill>
                    <a:srgbClr val="FFFFFF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6039693" y="4480190"/>
            <a:ext cx="624367" cy="702253"/>
          </a:xfrm>
          <a:custGeom>
            <a:avLst/>
            <a:gdLst/>
            <a:ahLst/>
            <a:cxnLst/>
            <a:rect r="r" b="b" t="t" l="l"/>
            <a:pathLst>
              <a:path h="702253" w="624367">
                <a:moveTo>
                  <a:pt x="0" y="0"/>
                </a:moveTo>
                <a:lnTo>
                  <a:pt x="624367" y="0"/>
                </a:lnTo>
                <a:lnTo>
                  <a:pt x="624367" y="702253"/>
                </a:lnTo>
                <a:lnTo>
                  <a:pt x="0" y="702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441919"/>
            <a:ext cx="4191000" cy="2118360"/>
            <a:chOff x="0" y="0"/>
            <a:chExt cx="5588000" cy="28244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5588000" cy="609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b="true" sz="2800" spc="84">
                  <a:solidFill>
                    <a:srgbClr val="2C92D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STRENGTHS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59037"/>
              <a:ext cx="5588000" cy="2065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Fast and convenient delivery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Extensive dark-store network 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Strong brand recognition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68300" y="2051394"/>
            <a:ext cx="4191000" cy="2899410"/>
            <a:chOff x="0" y="0"/>
            <a:chExt cx="5588000" cy="386588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5588000" cy="609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 spc="84">
                  <a:solidFill>
                    <a:srgbClr val="2C92D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WEAKNESSES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59037"/>
              <a:ext cx="5588000" cy="3106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High operating and delivery costs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Product availability can vary by location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Customer experience can vary by order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726721"/>
            <a:ext cx="4191000" cy="2118360"/>
            <a:chOff x="0" y="0"/>
            <a:chExt cx="5588000" cy="282448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5588000" cy="609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b="true" sz="2800" spc="84">
                  <a:solidFill>
                    <a:srgbClr val="2C92D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OPPORTUNITIES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59037"/>
              <a:ext cx="5588000" cy="2065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More India cities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Increasing digital payments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Expansion into electronics, beauty, apparel and lifestyle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68300" y="5336196"/>
            <a:ext cx="4191000" cy="2899410"/>
            <a:chOff x="0" y="0"/>
            <a:chExt cx="5588000" cy="386588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5588000" cy="609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b="true" sz="2800" spc="84">
                  <a:solidFill>
                    <a:srgbClr val="2C92D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THREATS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59037"/>
              <a:ext cx="5588000" cy="3106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competition from Blinkit and Instamart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Price competition and discounting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 spc="33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Customer switching between competing apps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00750" y="5143500"/>
            <a:ext cx="3143250" cy="3143250"/>
            <a:chOff x="0" y="0"/>
            <a:chExt cx="827852" cy="8278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7852" cy="827852"/>
            </a:xfrm>
            <a:custGeom>
              <a:avLst/>
              <a:gdLst/>
              <a:ahLst/>
              <a:cxnLst/>
              <a:rect r="r" b="b" t="t" l="l"/>
              <a:pathLst>
                <a:path h="827852" w="827852">
                  <a:moveTo>
                    <a:pt x="0" y="0"/>
                  </a:moveTo>
                  <a:lnTo>
                    <a:pt x="827852" y="0"/>
                  </a:lnTo>
                  <a:lnTo>
                    <a:pt x="827852" y="827852"/>
                  </a:lnTo>
                  <a:lnTo>
                    <a:pt x="0" y="827852"/>
                  </a:lnTo>
                  <a:close/>
                </a:path>
              </a:pathLst>
            </a:custGeom>
            <a:solidFill>
              <a:srgbClr val="7B1CC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71450"/>
              <a:ext cx="827852" cy="999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19"/>
                </a:lnSpc>
              </a:pPr>
              <a:r>
                <a:rPr lang="en-US" b="true" sz="8799">
                  <a:solidFill>
                    <a:srgbClr val="FFFFFF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O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10800000">
            <a:off x="8519633" y="7584497"/>
            <a:ext cx="624367" cy="702253"/>
          </a:xfrm>
          <a:custGeom>
            <a:avLst/>
            <a:gdLst/>
            <a:ahLst/>
            <a:cxnLst/>
            <a:rect r="r" b="b" t="t" l="l"/>
            <a:pathLst>
              <a:path h="702253" w="624367">
                <a:moveTo>
                  <a:pt x="0" y="0"/>
                </a:moveTo>
                <a:lnTo>
                  <a:pt x="624367" y="0"/>
                </a:lnTo>
                <a:lnTo>
                  <a:pt x="624367" y="702253"/>
                </a:lnTo>
                <a:lnTo>
                  <a:pt x="0" y="702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144000" y="2000250"/>
            <a:ext cx="3143250" cy="3143250"/>
            <a:chOff x="0" y="0"/>
            <a:chExt cx="827852" cy="8278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7852" cy="827852"/>
            </a:xfrm>
            <a:custGeom>
              <a:avLst/>
              <a:gdLst/>
              <a:ahLst/>
              <a:cxnLst/>
              <a:rect r="r" b="b" t="t" l="l"/>
              <a:pathLst>
                <a:path h="827852" w="827852">
                  <a:moveTo>
                    <a:pt x="0" y="0"/>
                  </a:moveTo>
                  <a:lnTo>
                    <a:pt x="827852" y="0"/>
                  </a:lnTo>
                  <a:lnTo>
                    <a:pt x="827852" y="827852"/>
                  </a:lnTo>
                  <a:lnTo>
                    <a:pt x="0" y="827852"/>
                  </a:lnTo>
                  <a:close/>
                </a:path>
              </a:pathLst>
            </a:custGeom>
            <a:solidFill>
              <a:srgbClr val="7B1CC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71450"/>
              <a:ext cx="827852" cy="999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19"/>
                </a:lnSpc>
              </a:pPr>
              <a:r>
                <a:rPr lang="en-US" b="true" sz="8799">
                  <a:solidFill>
                    <a:srgbClr val="FFFFFF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W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144000" y="2000250"/>
            <a:ext cx="624367" cy="702253"/>
          </a:xfrm>
          <a:custGeom>
            <a:avLst/>
            <a:gdLst/>
            <a:ahLst/>
            <a:cxnLst/>
            <a:rect r="r" b="b" t="t" l="l"/>
            <a:pathLst>
              <a:path h="702253" w="624367">
                <a:moveTo>
                  <a:pt x="0" y="0"/>
                </a:moveTo>
                <a:lnTo>
                  <a:pt x="624367" y="0"/>
                </a:lnTo>
                <a:lnTo>
                  <a:pt x="624367" y="702253"/>
                </a:lnTo>
                <a:lnTo>
                  <a:pt x="0" y="702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144000" y="5143500"/>
            <a:ext cx="3143250" cy="3143250"/>
            <a:chOff x="0" y="0"/>
            <a:chExt cx="827852" cy="8278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7852" cy="827852"/>
            </a:xfrm>
            <a:custGeom>
              <a:avLst/>
              <a:gdLst/>
              <a:ahLst/>
              <a:cxnLst/>
              <a:rect r="r" b="b" t="t" l="l"/>
              <a:pathLst>
                <a:path h="827852" w="827852">
                  <a:moveTo>
                    <a:pt x="0" y="0"/>
                  </a:moveTo>
                  <a:lnTo>
                    <a:pt x="827852" y="0"/>
                  </a:lnTo>
                  <a:lnTo>
                    <a:pt x="827852" y="827852"/>
                  </a:lnTo>
                  <a:lnTo>
                    <a:pt x="0" y="827852"/>
                  </a:lnTo>
                  <a:close/>
                </a:path>
              </a:pathLst>
            </a:custGeom>
            <a:solidFill>
              <a:srgbClr val="7B1CC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71450"/>
              <a:ext cx="827852" cy="999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319"/>
                </a:lnSpc>
              </a:pPr>
              <a:r>
                <a:rPr lang="en-US" b="true" sz="8799">
                  <a:solidFill>
                    <a:srgbClr val="FFFFFF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T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5400000">
            <a:off x="11623940" y="5104557"/>
            <a:ext cx="624367" cy="702253"/>
          </a:xfrm>
          <a:custGeom>
            <a:avLst/>
            <a:gdLst/>
            <a:ahLst/>
            <a:cxnLst/>
            <a:rect r="r" b="b" t="t" l="l"/>
            <a:pathLst>
              <a:path h="702253" w="624367">
                <a:moveTo>
                  <a:pt x="0" y="0"/>
                </a:moveTo>
                <a:lnTo>
                  <a:pt x="624367" y="0"/>
                </a:lnTo>
                <a:lnTo>
                  <a:pt x="624367" y="702253"/>
                </a:lnTo>
                <a:lnTo>
                  <a:pt x="0" y="702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29584" y="567690"/>
            <a:ext cx="9027596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In</a:t>
            </a:r>
            <a:r>
              <a:rPr lang="en-US" b="true" sz="35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sights &amp; Findings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546714" y="3229542"/>
            <a:ext cx="4774544" cy="300021"/>
          </a:xfrm>
          <a:custGeom>
            <a:avLst/>
            <a:gdLst/>
            <a:ahLst/>
            <a:cxnLst/>
            <a:rect r="r" b="b" t="t" l="l"/>
            <a:pathLst>
              <a:path h="300021" w="4774544">
                <a:moveTo>
                  <a:pt x="0" y="0"/>
                </a:moveTo>
                <a:lnTo>
                  <a:pt x="4774544" y="0"/>
                </a:lnTo>
                <a:lnTo>
                  <a:pt x="4774544" y="300021"/>
                </a:lnTo>
                <a:lnTo>
                  <a:pt x="0" y="30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-8228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65737" y="3229542"/>
            <a:ext cx="4774544" cy="300021"/>
          </a:xfrm>
          <a:custGeom>
            <a:avLst/>
            <a:gdLst/>
            <a:ahLst/>
            <a:cxnLst/>
            <a:rect r="r" b="b" t="t" l="l"/>
            <a:pathLst>
              <a:path h="300021" w="4774544">
                <a:moveTo>
                  <a:pt x="0" y="0"/>
                </a:moveTo>
                <a:lnTo>
                  <a:pt x="4774544" y="0"/>
                </a:lnTo>
                <a:lnTo>
                  <a:pt x="4774544" y="300021"/>
                </a:lnTo>
                <a:lnTo>
                  <a:pt x="0" y="30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-82288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46714" y="2668366"/>
            <a:ext cx="4771936" cy="687686"/>
            <a:chOff x="0" y="0"/>
            <a:chExt cx="1081126" cy="1558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1126" cy="155801"/>
            </a:xfrm>
            <a:custGeom>
              <a:avLst/>
              <a:gdLst/>
              <a:ahLst/>
              <a:cxnLst/>
              <a:rect r="r" b="b" t="t" l="l"/>
              <a:pathLst>
                <a:path h="155801" w="1081126">
                  <a:moveTo>
                    <a:pt x="12979" y="0"/>
                  </a:moveTo>
                  <a:lnTo>
                    <a:pt x="1068147" y="0"/>
                  </a:lnTo>
                  <a:cubicBezTo>
                    <a:pt x="1075315" y="0"/>
                    <a:pt x="1081126" y="5811"/>
                    <a:pt x="1081126" y="12979"/>
                  </a:cubicBezTo>
                  <a:lnTo>
                    <a:pt x="1081126" y="142822"/>
                  </a:lnTo>
                  <a:cubicBezTo>
                    <a:pt x="1081126" y="146265"/>
                    <a:pt x="1079758" y="149566"/>
                    <a:pt x="1077324" y="152000"/>
                  </a:cubicBezTo>
                  <a:cubicBezTo>
                    <a:pt x="1074890" y="154434"/>
                    <a:pt x="1071589" y="155801"/>
                    <a:pt x="1068147" y="155801"/>
                  </a:cubicBezTo>
                  <a:lnTo>
                    <a:pt x="12979" y="155801"/>
                  </a:lnTo>
                  <a:cubicBezTo>
                    <a:pt x="5811" y="155801"/>
                    <a:pt x="0" y="149991"/>
                    <a:pt x="0" y="142822"/>
                  </a:cubicBezTo>
                  <a:lnTo>
                    <a:pt x="0" y="12979"/>
                  </a:lnTo>
                  <a:cubicBezTo>
                    <a:pt x="0" y="5811"/>
                    <a:pt x="5811" y="0"/>
                    <a:pt x="12979" y="0"/>
                  </a:cubicBezTo>
                  <a:close/>
                </a:path>
              </a:pathLst>
            </a:custGeom>
            <a:solidFill>
              <a:srgbClr val="02B2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81126" cy="212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Top Strengths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16533" y="2694936"/>
            <a:ext cx="3053929" cy="634547"/>
            <a:chOff x="0" y="0"/>
            <a:chExt cx="2567133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7133" cy="533400"/>
            </a:xfrm>
            <a:custGeom>
              <a:avLst/>
              <a:gdLst/>
              <a:ahLst/>
              <a:cxnLst/>
              <a:rect r="r" b="b" t="t" l="l"/>
              <a:pathLst>
                <a:path h="533400" w="2567133">
                  <a:moveTo>
                    <a:pt x="273050" y="0"/>
                  </a:moveTo>
                  <a:lnTo>
                    <a:pt x="0" y="266700"/>
                  </a:lnTo>
                  <a:lnTo>
                    <a:pt x="273050" y="533400"/>
                  </a:lnTo>
                  <a:lnTo>
                    <a:pt x="273050" y="400050"/>
                  </a:lnTo>
                  <a:lnTo>
                    <a:pt x="2294083" y="400050"/>
                  </a:lnTo>
                  <a:lnTo>
                    <a:pt x="2294083" y="533400"/>
                  </a:lnTo>
                  <a:lnTo>
                    <a:pt x="2567133" y="266700"/>
                  </a:lnTo>
                  <a:lnTo>
                    <a:pt x="2294083" y="0"/>
                  </a:lnTo>
                  <a:lnTo>
                    <a:pt x="2294083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82550"/>
              <a:ext cx="2363933" cy="31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65438" y="2668366"/>
            <a:ext cx="4774544" cy="687686"/>
            <a:chOff x="0" y="0"/>
            <a:chExt cx="1081717" cy="1558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717" cy="155801"/>
            </a:xfrm>
            <a:custGeom>
              <a:avLst/>
              <a:gdLst/>
              <a:ahLst/>
              <a:cxnLst/>
              <a:rect r="r" b="b" t="t" l="l"/>
              <a:pathLst>
                <a:path h="155801" w="1081717">
                  <a:moveTo>
                    <a:pt x="12972" y="0"/>
                  </a:moveTo>
                  <a:lnTo>
                    <a:pt x="1068745" y="0"/>
                  </a:lnTo>
                  <a:cubicBezTo>
                    <a:pt x="1072185" y="0"/>
                    <a:pt x="1075485" y="1367"/>
                    <a:pt x="1077917" y="3799"/>
                  </a:cubicBezTo>
                  <a:cubicBezTo>
                    <a:pt x="1080350" y="6232"/>
                    <a:pt x="1081717" y="9532"/>
                    <a:pt x="1081717" y="12972"/>
                  </a:cubicBezTo>
                  <a:lnTo>
                    <a:pt x="1081717" y="142829"/>
                  </a:lnTo>
                  <a:cubicBezTo>
                    <a:pt x="1081717" y="146270"/>
                    <a:pt x="1080350" y="149569"/>
                    <a:pt x="1077917" y="152002"/>
                  </a:cubicBezTo>
                  <a:cubicBezTo>
                    <a:pt x="1075485" y="154435"/>
                    <a:pt x="1072185" y="155801"/>
                    <a:pt x="1068745" y="155801"/>
                  </a:cubicBezTo>
                  <a:lnTo>
                    <a:pt x="12972" y="155801"/>
                  </a:lnTo>
                  <a:cubicBezTo>
                    <a:pt x="9532" y="155801"/>
                    <a:pt x="6232" y="154435"/>
                    <a:pt x="3799" y="152002"/>
                  </a:cubicBezTo>
                  <a:cubicBezTo>
                    <a:pt x="1367" y="149569"/>
                    <a:pt x="0" y="146270"/>
                    <a:pt x="0" y="142829"/>
                  </a:cubicBezTo>
                  <a:lnTo>
                    <a:pt x="0" y="12972"/>
                  </a:lnTo>
                  <a:cubicBezTo>
                    <a:pt x="0" y="9532"/>
                    <a:pt x="1367" y="6232"/>
                    <a:pt x="3799" y="3799"/>
                  </a:cubicBezTo>
                  <a:cubicBezTo>
                    <a:pt x="6232" y="1367"/>
                    <a:pt x="9532" y="0"/>
                    <a:pt x="12972" y="0"/>
                  </a:cubicBezTo>
                  <a:close/>
                </a:path>
              </a:pathLst>
            </a:custGeom>
            <a:solidFill>
              <a:srgbClr val="5DDB7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81717" cy="212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Problem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741091" y="2667000"/>
            <a:ext cx="804812" cy="803806"/>
          </a:xfrm>
          <a:custGeom>
            <a:avLst/>
            <a:gdLst/>
            <a:ahLst/>
            <a:cxnLst/>
            <a:rect r="r" b="b" t="t" l="l"/>
            <a:pathLst>
              <a:path h="803806" w="804812">
                <a:moveTo>
                  <a:pt x="0" y="0"/>
                </a:moveTo>
                <a:lnTo>
                  <a:pt x="804812" y="0"/>
                </a:lnTo>
                <a:lnTo>
                  <a:pt x="804812" y="803806"/>
                </a:lnTo>
                <a:lnTo>
                  <a:pt x="0" y="80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798288" y="2667000"/>
            <a:ext cx="690418" cy="69041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5400000">
            <a:off x="7966950" y="3643438"/>
            <a:ext cx="1310584" cy="1463833"/>
          </a:xfrm>
          <a:custGeom>
            <a:avLst/>
            <a:gdLst/>
            <a:ahLst/>
            <a:cxnLst/>
            <a:rect r="r" b="b" t="t" l="l"/>
            <a:pathLst>
              <a:path h="1463833" w="1310584">
                <a:moveTo>
                  <a:pt x="0" y="0"/>
                </a:moveTo>
                <a:lnTo>
                  <a:pt x="1310585" y="0"/>
                </a:lnTo>
                <a:lnTo>
                  <a:pt x="1310585" y="1463833"/>
                </a:lnTo>
                <a:lnTo>
                  <a:pt x="0" y="1463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5400000">
            <a:off x="9009460" y="3643438"/>
            <a:ext cx="1310584" cy="1463833"/>
          </a:xfrm>
          <a:custGeom>
            <a:avLst/>
            <a:gdLst/>
            <a:ahLst/>
            <a:cxnLst/>
            <a:rect r="r" b="b" t="t" l="l"/>
            <a:pathLst>
              <a:path h="1463833" w="1310584">
                <a:moveTo>
                  <a:pt x="0" y="1463833"/>
                </a:moveTo>
                <a:lnTo>
                  <a:pt x="1310584" y="1463833"/>
                </a:lnTo>
                <a:lnTo>
                  <a:pt x="1310584" y="0"/>
                </a:lnTo>
                <a:lnTo>
                  <a:pt x="0" y="0"/>
                </a:lnTo>
                <a:lnTo>
                  <a:pt x="0" y="14638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41091" y="3973452"/>
            <a:ext cx="804812" cy="803806"/>
          </a:xfrm>
          <a:custGeom>
            <a:avLst/>
            <a:gdLst/>
            <a:ahLst/>
            <a:cxnLst/>
            <a:rect r="r" b="b" t="t" l="l"/>
            <a:pathLst>
              <a:path h="803806" w="804812">
                <a:moveTo>
                  <a:pt x="0" y="0"/>
                </a:moveTo>
                <a:lnTo>
                  <a:pt x="804812" y="0"/>
                </a:lnTo>
                <a:lnTo>
                  <a:pt x="804812" y="803806"/>
                </a:lnTo>
                <a:lnTo>
                  <a:pt x="0" y="80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869504" y="4101477"/>
            <a:ext cx="547756" cy="54775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5400000">
            <a:off x="7966950" y="5141556"/>
            <a:ext cx="1310584" cy="1463833"/>
          </a:xfrm>
          <a:custGeom>
            <a:avLst/>
            <a:gdLst/>
            <a:ahLst/>
            <a:cxnLst/>
            <a:rect r="r" b="b" t="t" l="l"/>
            <a:pathLst>
              <a:path h="1463833" w="1310584">
                <a:moveTo>
                  <a:pt x="0" y="0"/>
                </a:moveTo>
                <a:lnTo>
                  <a:pt x="1310585" y="0"/>
                </a:lnTo>
                <a:lnTo>
                  <a:pt x="1310585" y="1463833"/>
                </a:lnTo>
                <a:lnTo>
                  <a:pt x="0" y="1463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41091" y="5471569"/>
            <a:ext cx="804812" cy="803806"/>
          </a:xfrm>
          <a:custGeom>
            <a:avLst/>
            <a:gdLst/>
            <a:ahLst/>
            <a:cxnLst/>
            <a:rect r="r" b="b" t="t" l="l"/>
            <a:pathLst>
              <a:path h="803806" w="804812">
                <a:moveTo>
                  <a:pt x="0" y="0"/>
                </a:moveTo>
                <a:lnTo>
                  <a:pt x="804812" y="0"/>
                </a:lnTo>
                <a:lnTo>
                  <a:pt x="804812" y="803807"/>
                </a:lnTo>
                <a:lnTo>
                  <a:pt x="0" y="803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true" rot="5400000">
            <a:off x="9009460" y="5141556"/>
            <a:ext cx="1310584" cy="1463833"/>
          </a:xfrm>
          <a:custGeom>
            <a:avLst/>
            <a:gdLst/>
            <a:ahLst/>
            <a:cxnLst/>
            <a:rect r="r" b="b" t="t" l="l"/>
            <a:pathLst>
              <a:path h="1463833" w="1310584">
                <a:moveTo>
                  <a:pt x="0" y="1463833"/>
                </a:moveTo>
                <a:lnTo>
                  <a:pt x="1310584" y="1463833"/>
                </a:lnTo>
                <a:lnTo>
                  <a:pt x="1310584" y="0"/>
                </a:lnTo>
                <a:lnTo>
                  <a:pt x="0" y="0"/>
                </a:lnTo>
                <a:lnTo>
                  <a:pt x="0" y="14638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8869504" y="5599594"/>
            <a:ext cx="547756" cy="54775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5400000">
            <a:off x="7966950" y="6639674"/>
            <a:ext cx="1310584" cy="1463833"/>
          </a:xfrm>
          <a:custGeom>
            <a:avLst/>
            <a:gdLst/>
            <a:ahLst/>
            <a:cxnLst/>
            <a:rect r="r" b="b" t="t" l="l"/>
            <a:pathLst>
              <a:path h="1463833" w="1310584">
                <a:moveTo>
                  <a:pt x="0" y="0"/>
                </a:moveTo>
                <a:lnTo>
                  <a:pt x="1310585" y="0"/>
                </a:lnTo>
                <a:lnTo>
                  <a:pt x="1310585" y="1463833"/>
                </a:lnTo>
                <a:lnTo>
                  <a:pt x="0" y="1463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741091" y="6972240"/>
            <a:ext cx="804812" cy="803806"/>
          </a:xfrm>
          <a:custGeom>
            <a:avLst/>
            <a:gdLst/>
            <a:ahLst/>
            <a:cxnLst/>
            <a:rect r="r" b="b" t="t" l="l"/>
            <a:pathLst>
              <a:path h="803806" w="804812">
                <a:moveTo>
                  <a:pt x="0" y="0"/>
                </a:moveTo>
                <a:lnTo>
                  <a:pt x="804812" y="0"/>
                </a:lnTo>
                <a:lnTo>
                  <a:pt x="804812" y="803806"/>
                </a:lnTo>
                <a:lnTo>
                  <a:pt x="0" y="80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true" rot="5400000">
            <a:off x="9009460" y="6639674"/>
            <a:ext cx="1310584" cy="1463833"/>
          </a:xfrm>
          <a:custGeom>
            <a:avLst/>
            <a:gdLst/>
            <a:ahLst/>
            <a:cxnLst/>
            <a:rect r="r" b="b" t="t" l="l"/>
            <a:pathLst>
              <a:path h="1463833" w="1310584">
                <a:moveTo>
                  <a:pt x="0" y="1463833"/>
                </a:moveTo>
                <a:lnTo>
                  <a:pt x="1310584" y="1463833"/>
                </a:lnTo>
                <a:lnTo>
                  <a:pt x="1310584" y="0"/>
                </a:lnTo>
                <a:lnTo>
                  <a:pt x="0" y="0"/>
                </a:lnTo>
                <a:lnTo>
                  <a:pt x="0" y="14638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8869504" y="7100265"/>
            <a:ext cx="547756" cy="547756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5400000">
            <a:off x="7966950" y="8137791"/>
            <a:ext cx="1310584" cy="1463833"/>
          </a:xfrm>
          <a:custGeom>
            <a:avLst/>
            <a:gdLst/>
            <a:ahLst/>
            <a:cxnLst/>
            <a:rect r="r" b="b" t="t" l="l"/>
            <a:pathLst>
              <a:path h="1463833" w="1310584">
                <a:moveTo>
                  <a:pt x="0" y="0"/>
                </a:moveTo>
                <a:lnTo>
                  <a:pt x="1310585" y="0"/>
                </a:lnTo>
                <a:lnTo>
                  <a:pt x="1310585" y="1463833"/>
                </a:lnTo>
                <a:lnTo>
                  <a:pt x="0" y="1463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true" rot="5400000">
            <a:off x="9009460" y="8137791"/>
            <a:ext cx="1310584" cy="1463833"/>
          </a:xfrm>
          <a:custGeom>
            <a:avLst/>
            <a:gdLst/>
            <a:ahLst/>
            <a:cxnLst/>
            <a:rect r="r" b="b" t="t" l="l"/>
            <a:pathLst>
              <a:path h="1463833" w="1310584">
                <a:moveTo>
                  <a:pt x="0" y="1463833"/>
                </a:moveTo>
                <a:lnTo>
                  <a:pt x="1310584" y="1463833"/>
                </a:lnTo>
                <a:lnTo>
                  <a:pt x="1310584" y="0"/>
                </a:lnTo>
                <a:lnTo>
                  <a:pt x="0" y="0"/>
                </a:lnTo>
                <a:lnTo>
                  <a:pt x="0" y="146383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741091" y="8472910"/>
            <a:ext cx="804812" cy="803806"/>
          </a:xfrm>
          <a:custGeom>
            <a:avLst/>
            <a:gdLst/>
            <a:ahLst/>
            <a:cxnLst/>
            <a:rect r="r" b="b" t="t" l="l"/>
            <a:pathLst>
              <a:path h="803806" w="804812">
                <a:moveTo>
                  <a:pt x="0" y="0"/>
                </a:moveTo>
                <a:lnTo>
                  <a:pt x="804812" y="0"/>
                </a:lnTo>
                <a:lnTo>
                  <a:pt x="804812" y="803806"/>
                </a:lnTo>
                <a:lnTo>
                  <a:pt x="0" y="80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8869504" y="8595830"/>
            <a:ext cx="547756" cy="547756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546714" y="4291852"/>
            <a:ext cx="477454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epto's App Store listing has 4.7/5 from around 1 mi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lion ratings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46714" y="3809252"/>
            <a:ext cx="477454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</a:t>
            </a: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rong customer adoption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965438" y="4291852"/>
            <a:ext cx="4774544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ecent reviews include complaints about difficulty resolving missing, damaged or incorrect orders and delays in refunds/support responses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965438" y="3809252"/>
            <a:ext cx="477454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Cus</a:t>
            </a: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tomer support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46714" y="5789970"/>
            <a:ext cx="477454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ers per dark store increased from 1,325/day in FY24 to 1,677/day in FY26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546714" y="5307370"/>
            <a:ext cx="477454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igh operational efficiency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968169" y="6045875"/>
            <a:ext cx="477454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aintaining dark stores, 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entor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rapid delivery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965438" y="5575975"/>
            <a:ext cx="477454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High ope</a:t>
            </a: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rating requirements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546714" y="7288087"/>
            <a:ext cx="4774544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pto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1,139 dark st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 at 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nd o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FY26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546714" y="6805488"/>
            <a:ext cx="477454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Large fulfilment netw</a:t>
            </a:r>
            <a:r>
              <a:rPr lang="en-US" b="true" sz="2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ork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965438" y="7288087"/>
            <a:ext cx="4774544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cust</a:t>
            </a:r>
            <a:r>
              <a:rPr lang="en-US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omers have r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eported regarding the fres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hn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quality of fruits, vegetables and other products.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965438" y="6828983"/>
            <a:ext cx="477454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roduct quality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546714" y="8786205"/>
            <a:ext cx="477454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epto's app currently lists 200,000+ products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546714" y="8327100"/>
            <a:ext cx="477454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Broad product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965438" y="8786205"/>
            <a:ext cx="4774544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epto's rapid expansion conti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nue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to require substantial investment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Busines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Standard reported an adjust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 EBITDA loss of ₹1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247.5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crore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Q4 FY26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965438" y="8327100"/>
            <a:ext cx="477454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Profit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ability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66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44100" y="1840069"/>
            <a:ext cx="7315200" cy="7418231"/>
            <a:chOff x="0" y="0"/>
            <a:chExt cx="2649809" cy="2687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50" y="31750"/>
              <a:ext cx="2585067" cy="2623630"/>
            </a:xfrm>
            <a:custGeom>
              <a:avLst/>
              <a:gdLst/>
              <a:ahLst/>
              <a:cxnLst/>
              <a:rect r="r" b="b" t="t" l="l"/>
              <a:pathLst>
                <a:path h="2623630" w="2585067">
                  <a:moveTo>
                    <a:pt x="2493599" y="2623630"/>
                  </a:moveTo>
                  <a:lnTo>
                    <a:pt x="92710" y="2623630"/>
                  </a:lnTo>
                  <a:cubicBezTo>
                    <a:pt x="41910" y="2623630"/>
                    <a:pt x="0" y="2581720"/>
                    <a:pt x="0" y="253092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2492329" y="0"/>
                  </a:lnTo>
                  <a:cubicBezTo>
                    <a:pt x="2543129" y="0"/>
                    <a:pt x="2585039" y="41910"/>
                    <a:pt x="2585039" y="92710"/>
                  </a:cubicBezTo>
                  <a:lnTo>
                    <a:pt x="2585039" y="2529650"/>
                  </a:lnTo>
                  <a:cubicBezTo>
                    <a:pt x="2586309" y="2581720"/>
                    <a:pt x="2544399" y="2623630"/>
                    <a:pt x="2493599" y="2623630"/>
                  </a:cubicBezTo>
                  <a:close/>
                </a:path>
              </a:pathLst>
            </a:custGeom>
            <a:solidFill>
              <a:srgbClr val="FAE8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49809" cy="2687131"/>
            </a:xfrm>
            <a:custGeom>
              <a:avLst/>
              <a:gdLst/>
              <a:ahLst/>
              <a:cxnLst/>
              <a:rect r="r" b="b" t="t" l="l"/>
              <a:pathLst>
                <a:path h="2687131" w="2649809">
                  <a:moveTo>
                    <a:pt x="2525349" y="59690"/>
                  </a:moveTo>
                  <a:cubicBezTo>
                    <a:pt x="2560909" y="59690"/>
                    <a:pt x="2590119" y="88900"/>
                    <a:pt x="2590119" y="124460"/>
                  </a:cubicBezTo>
                  <a:lnTo>
                    <a:pt x="2590119" y="2562671"/>
                  </a:lnTo>
                  <a:cubicBezTo>
                    <a:pt x="2590119" y="2598231"/>
                    <a:pt x="2560909" y="2627440"/>
                    <a:pt x="2525349" y="2627440"/>
                  </a:cubicBezTo>
                  <a:lnTo>
                    <a:pt x="124460" y="2627440"/>
                  </a:lnTo>
                  <a:cubicBezTo>
                    <a:pt x="88900" y="2627440"/>
                    <a:pt x="59690" y="2598231"/>
                    <a:pt x="59690" y="25626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525349" y="59690"/>
                  </a:lnTo>
                  <a:moveTo>
                    <a:pt x="252534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562671"/>
                  </a:lnTo>
                  <a:cubicBezTo>
                    <a:pt x="0" y="2631250"/>
                    <a:pt x="55880" y="2687131"/>
                    <a:pt x="124460" y="2687131"/>
                  </a:cubicBezTo>
                  <a:lnTo>
                    <a:pt x="2525349" y="2687131"/>
                  </a:lnTo>
                  <a:cubicBezTo>
                    <a:pt x="2593929" y="2687131"/>
                    <a:pt x="2649809" y="2631250"/>
                    <a:pt x="2649809" y="2562671"/>
                  </a:cubicBezTo>
                  <a:lnTo>
                    <a:pt x="2649809" y="124460"/>
                  </a:lnTo>
                  <a:cubicBezTo>
                    <a:pt x="2649809" y="55880"/>
                    <a:pt x="2593929" y="0"/>
                    <a:pt x="2525349" y="0"/>
                  </a:cubicBezTo>
                  <a:close/>
                </a:path>
              </a:pathLst>
            </a:custGeom>
            <a:solidFill>
              <a:srgbClr val="494F56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11394"/>
            <a:ext cx="1521460" cy="1521460"/>
          </a:xfrm>
          <a:custGeom>
            <a:avLst/>
            <a:gdLst/>
            <a:ahLst/>
            <a:cxnLst/>
            <a:rect r="r" b="b" t="t" l="l"/>
            <a:pathLst>
              <a:path h="1521460" w="1521460">
                <a:moveTo>
                  <a:pt x="0" y="0"/>
                </a:moveTo>
                <a:lnTo>
                  <a:pt x="1521460" y="0"/>
                </a:lnTo>
                <a:lnTo>
                  <a:pt x="1521460" y="1521460"/>
                </a:lnTo>
                <a:lnTo>
                  <a:pt x="0" y="1521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5442" y="950603"/>
            <a:ext cx="532554" cy="13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16"/>
              </a:lnSpc>
            </a:pPr>
            <a:r>
              <a:rPr lang="en-US" sz="7511" b="true">
                <a:solidFill>
                  <a:srgbClr val="F5F2D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79223" y="-508338"/>
            <a:ext cx="10620232" cy="10057741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254952" y="2418554"/>
            <a:ext cx="6693495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383E48"/>
                </a:solidFill>
                <a:latin typeface="Arial"/>
                <a:ea typeface="Arial"/>
                <a:cs typeface="Arial"/>
                <a:sym typeface="Arial"/>
              </a:rPr>
              <a:t>Growth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14852" y="4241682"/>
            <a:ext cx="4448715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83E48"/>
                </a:solidFill>
                <a:latin typeface="Arial Bold"/>
                <a:ea typeface="Arial Bold"/>
                <a:cs typeface="Arial Bold"/>
                <a:sym typeface="Arial Bold"/>
              </a:rPr>
              <a:t>Quick Delivery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83E48"/>
                </a:solidFill>
                <a:latin typeface="Arial Bold"/>
                <a:ea typeface="Arial Bold"/>
                <a:cs typeface="Arial Bold"/>
                <a:sym typeface="Arial Bold"/>
              </a:rPr>
              <a:t>Technology &amp; Data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383E48"/>
                </a:solidFill>
                <a:latin typeface="Arial Bold"/>
                <a:ea typeface="Arial Bold"/>
                <a:cs typeface="Arial Bold"/>
                <a:sym typeface="Arial Bold"/>
              </a:rPr>
              <a:t>Attractive Offers</a:t>
            </a:r>
          </a:p>
          <a:p>
            <a:pPr algn="l">
              <a:lnSpc>
                <a:spcPts val="62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98523" y="5895742"/>
            <a:ext cx="5331993" cy="3682965"/>
            <a:chOff x="0" y="0"/>
            <a:chExt cx="2387199" cy="1648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7199" cy="1648909"/>
            </a:xfrm>
            <a:custGeom>
              <a:avLst/>
              <a:gdLst/>
              <a:ahLst/>
              <a:cxnLst/>
              <a:rect r="r" b="b" t="t" l="l"/>
              <a:pathLst>
                <a:path h="1648909" w="2387199">
                  <a:moveTo>
                    <a:pt x="0" y="0"/>
                  </a:moveTo>
                  <a:lnTo>
                    <a:pt x="2387199" y="0"/>
                  </a:lnTo>
                  <a:lnTo>
                    <a:pt x="2387199" y="1648909"/>
                  </a:lnTo>
                  <a:lnTo>
                    <a:pt x="0" y="1648909"/>
                  </a:lnTo>
                  <a:close/>
                </a:path>
              </a:pathLst>
            </a:custGeom>
            <a:solidFill>
              <a:srgbClr val="E5FFE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1552" y="5895742"/>
            <a:ext cx="5331993" cy="3682965"/>
            <a:chOff x="0" y="0"/>
            <a:chExt cx="2387199" cy="1648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7199" cy="1648909"/>
            </a:xfrm>
            <a:custGeom>
              <a:avLst/>
              <a:gdLst/>
              <a:ahLst/>
              <a:cxnLst/>
              <a:rect r="r" b="b" t="t" l="l"/>
              <a:pathLst>
                <a:path h="1648909" w="2387199">
                  <a:moveTo>
                    <a:pt x="0" y="0"/>
                  </a:moveTo>
                  <a:lnTo>
                    <a:pt x="2387199" y="0"/>
                  </a:lnTo>
                  <a:lnTo>
                    <a:pt x="2387199" y="1648909"/>
                  </a:lnTo>
                  <a:lnTo>
                    <a:pt x="0" y="1648909"/>
                  </a:lnTo>
                  <a:close/>
                </a:path>
              </a:pathLst>
            </a:custGeom>
            <a:solidFill>
              <a:srgbClr val="F9DE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97976" y="1865700"/>
            <a:ext cx="5331993" cy="3657545"/>
            <a:chOff x="0" y="0"/>
            <a:chExt cx="2387199" cy="1637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7199" cy="1637528"/>
            </a:xfrm>
            <a:custGeom>
              <a:avLst/>
              <a:gdLst/>
              <a:ahLst/>
              <a:cxnLst/>
              <a:rect r="r" b="b" t="t" l="l"/>
              <a:pathLst>
                <a:path h="1637528" w="2387199">
                  <a:moveTo>
                    <a:pt x="0" y="0"/>
                  </a:moveTo>
                  <a:lnTo>
                    <a:pt x="2387199" y="0"/>
                  </a:lnTo>
                  <a:lnTo>
                    <a:pt x="2387199" y="1637528"/>
                  </a:lnTo>
                  <a:lnTo>
                    <a:pt x="0" y="1637528"/>
                  </a:lnTo>
                  <a:close/>
                </a:path>
              </a:pathLst>
            </a:custGeom>
            <a:solidFill>
              <a:srgbClr val="D6E8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21552" y="1840280"/>
            <a:ext cx="5331993" cy="3682965"/>
            <a:chOff x="0" y="0"/>
            <a:chExt cx="2387199" cy="16489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7199" cy="1648909"/>
            </a:xfrm>
            <a:custGeom>
              <a:avLst/>
              <a:gdLst/>
              <a:ahLst/>
              <a:cxnLst/>
              <a:rect r="r" b="b" t="t" l="l"/>
              <a:pathLst>
                <a:path h="1648909" w="2387199">
                  <a:moveTo>
                    <a:pt x="0" y="0"/>
                  </a:moveTo>
                  <a:lnTo>
                    <a:pt x="2387199" y="0"/>
                  </a:lnTo>
                  <a:lnTo>
                    <a:pt x="2387199" y="1648909"/>
                  </a:lnTo>
                  <a:lnTo>
                    <a:pt x="0" y="1648909"/>
                  </a:lnTo>
                  <a:close/>
                </a:path>
              </a:pathLst>
            </a:custGeom>
            <a:solidFill>
              <a:srgbClr val="FFF5B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5493" y="5895742"/>
            <a:ext cx="5331993" cy="3682965"/>
            <a:chOff x="0" y="0"/>
            <a:chExt cx="2387199" cy="16489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7199" cy="1648909"/>
            </a:xfrm>
            <a:custGeom>
              <a:avLst/>
              <a:gdLst/>
              <a:ahLst/>
              <a:cxnLst/>
              <a:rect r="r" b="b" t="t" l="l"/>
              <a:pathLst>
                <a:path h="1648909" w="2387199">
                  <a:moveTo>
                    <a:pt x="0" y="0"/>
                  </a:moveTo>
                  <a:lnTo>
                    <a:pt x="2387199" y="0"/>
                  </a:lnTo>
                  <a:lnTo>
                    <a:pt x="2387199" y="1648909"/>
                  </a:lnTo>
                  <a:lnTo>
                    <a:pt x="0" y="1648909"/>
                  </a:lnTo>
                  <a:close/>
                </a:path>
              </a:pathLst>
            </a:custGeom>
            <a:solidFill>
              <a:srgbClr val="FFDFA0"/>
            </a:solidFill>
          </p:spPr>
        </p:sp>
      </p:grpSp>
      <p:sp>
        <p:nvSpPr>
          <p:cNvPr name="AutoShape 12" id="12"/>
          <p:cNvSpPr/>
          <p:nvPr/>
        </p:nvSpPr>
        <p:spPr>
          <a:xfrm rot="0">
            <a:off x="675493" y="1865700"/>
            <a:ext cx="5331993" cy="3657545"/>
          </a:xfrm>
          <a:prstGeom prst="rect">
            <a:avLst/>
          </a:prstGeom>
          <a:solidFill>
            <a:srgbClr val="EDECED">
              <a:alpha val="34902"/>
            </a:srgbClr>
          </a:solidFill>
        </p:spPr>
      </p:sp>
      <p:grpSp>
        <p:nvGrpSpPr>
          <p:cNvPr name="Group 13" id="13"/>
          <p:cNvGrpSpPr/>
          <p:nvPr/>
        </p:nvGrpSpPr>
        <p:grpSpPr>
          <a:xfrm rot="0">
            <a:off x="11204621" y="5035649"/>
            <a:ext cx="664124" cy="664124"/>
            <a:chOff x="0" y="0"/>
            <a:chExt cx="885498" cy="8854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5498" cy="885498"/>
            </a:xfrm>
            <a:custGeom>
              <a:avLst/>
              <a:gdLst/>
              <a:ahLst/>
              <a:cxnLst/>
              <a:rect r="r" b="b" t="t" l="l"/>
              <a:pathLst>
                <a:path h="885498" w="885498">
                  <a:moveTo>
                    <a:pt x="0" y="0"/>
                  </a:moveTo>
                  <a:lnTo>
                    <a:pt x="885498" y="0"/>
                  </a:lnTo>
                  <a:lnTo>
                    <a:pt x="885498" y="885498"/>
                  </a:lnTo>
                  <a:lnTo>
                    <a:pt x="0" y="88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4728" y="231273"/>
              <a:ext cx="376043" cy="422952"/>
            </a:xfrm>
            <a:custGeom>
              <a:avLst/>
              <a:gdLst/>
              <a:ahLst/>
              <a:cxnLst/>
              <a:rect r="r" b="b" t="t" l="l"/>
              <a:pathLst>
                <a:path h="422952" w="376043">
                  <a:moveTo>
                    <a:pt x="0" y="0"/>
                  </a:moveTo>
                  <a:lnTo>
                    <a:pt x="376043" y="0"/>
                  </a:lnTo>
                  <a:lnTo>
                    <a:pt x="376043" y="422952"/>
                  </a:lnTo>
                  <a:lnTo>
                    <a:pt x="0" y="422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55124" y="9010489"/>
            <a:ext cx="777370" cy="777370"/>
            <a:chOff x="0" y="0"/>
            <a:chExt cx="1036493" cy="1036493"/>
          </a:xfrm>
        </p:grpSpPr>
        <p:sp>
          <p:nvSpPr>
            <p:cNvPr name="Freeform 17" id="17"/>
            <p:cNvSpPr/>
            <p:nvPr/>
          </p:nvSpPr>
          <p:spPr>
            <a:xfrm flipH="false" flipV="false" rot="2700000">
              <a:off x="151791" y="151791"/>
              <a:ext cx="732911" cy="732911"/>
            </a:xfrm>
            <a:custGeom>
              <a:avLst/>
              <a:gdLst/>
              <a:ahLst/>
              <a:cxnLst/>
              <a:rect r="r" b="b" t="t" l="l"/>
              <a:pathLst>
                <a:path h="732911" w="732911">
                  <a:moveTo>
                    <a:pt x="0" y="0"/>
                  </a:moveTo>
                  <a:lnTo>
                    <a:pt x="732911" y="0"/>
                  </a:lnTo>
                  <a:lnTo>
                    <a:pt x="732911" y="732911"/>
                  </a:lnTo>
                  <a:lnTo>
                    <a:pt x="0" y="73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75547" y="304392"/>
              <a:ext cx="285398" cy="427708"/>
            </a:xfrm>
            <a:custGeom>
              <a:avLst/>
              <a:gdLst/>
              <a:ahLst/>
              <a:cxnLst/>
              <a:rect r="r" b="b" t="t" l="l"/>
              <a:pathLst>
                <a:path h="427708" w="285398">
                  <a:moveTo>
                    <a:pt x="0" y="0"/>
                  </a:moveTo>
                  <a:lnTo>
                    <a:pt x="285399" y="0"/>
                  </a:lnTo>
                  <a:lnTo>
                    <a:pt x="285399" y="427709"/>
                  </a:lnTo>
                  <a:lnTo>
                    <a:pt x="0" y="427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209000" y="9069301"/>
            <a:ext cx="659745" cy="659745"/>
            <a:chOff x="0" y="0"/>
            <a:chExt cx="879661" cy="8796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9661" cy="879661"/>
            </a:xfrm>
            <a:custGeom>
              <a:avLst/>
              <a:gdLst/>
              <a:ahLst/>
              <a:cxnLst/>
              <a:rect r="r" b="b" t="t" l="l"/>
              <a:pathLst>
                <a:path h="879661" w="879661">
                  <a:moveTo>
                    <a:pt x="0" y="0"/>
                  </a:moveTo>
                  <a:lnTo>
                    <a:pt x="879661" y="0"/>
                  </a:lnTo>
                  <a:lnTo>
                    <a:pt x="879661" y="879661"/>
                  </a:lnTo>
                  <a:lnTo>
                    <a:pt x="0" y="87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86239" y="212746"/>
              <a:ext cx="307183" cy="454168"/>
            </a:xfrm>
            <a:custGeom>
              <a:avLst/>
              <a:gdLst/>
              <a:ahLst/>
              <a:cxnLst/>
              <a:rect r="r" b="b" t="t" l="l"/>
              <a:pathLst>
                <a:path h="454168" w="307183">
                  <a:moveTo>
                    <a:pt x="0" y="0"/>
                  </a:moveTo>
                  <a:lnTo>
                    <a:pt x="307183" y="0"/>
                  </a:lnTo>
                  <a:lnTo>
                    <a:pt x="307183" y="454168"/>
                  </a:lnTo>
                  <a:lnTo>
                    <a:pt x="0" y="454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000631" y="9120395"/>
            <a:ext cx="608651" cy="608651"/>
            <a:chOff x="0" y="0"/>
            <a:chExt cx="811534" cy="811534"/>
          </a:xfrm>
        </p:grpSpPr>
        <p:sp>
          <p:nvSpPr>
            <p:cNvPr name="Freeform 23" id="23"/>
            <p:cNvSpPr/>
            <p:nvPr/>
          </p:nvSpPr>
          <p:spPr>
            <a:xfrm flipH="false" flipV="false" rot="5400000">
              <a:off x="0" y="0"/>
              <a:ext cx="811534" cy="811534"/>
            </a:xfrm>
            <a:custGeom>
              <a:avLst/>
              <a:gdLst/>
              <a:ahLst/>
              <a:cxnLst/>
              <a:rect r="r" b="b" t="t" l="l"/>
              <a:pathLst>
                <a:path h="811534" w="811534">
                  <a:moveTo>
                    <a:pt x="0" y="0"/>
                  </a:moveTo>
                  <a:lnTo>
                    <a:pt x="811534" y="0"/>
                  </a:lnTo>
                  <a:lnTo>
                    <a:pt x="811534" y="811534"/>
                  </a:lnTo>
                  <a:lnTo>
                    <a:pt x="0" y="811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62857" y="170365"/>
              <a:ext cx="485821" cy="470805"/>
            </a:xfrm>
            <a:custGeom>
              <a:avLst/>
              <a:gdLst/>
              <a:ahLst/>
              <a:cxnLst/>
              <a:rect r="r" b="b" t="t" l="l"/>
              <a:pathLst>
                <a:path h="470805" w="485821">
                  <a:moveTo>
                    <a:pt x="0" y="0"/>
                  </a:moveTo>
                  <a:lnTo>
                    <a:pt x="485821" y="0"/>
                  </a:lnTo>
                  <a:lnTo>
                    <a:pt x="485821" y="470804"/>
                  </a:lnTo>
                  <a:lnTo>
                    <a:pt x="0" y="470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947218" y="5037709"/>
            <a:ext cx="662064" cy="662064"/>
            <a:chOff x="0" y="0"/>
            <a:chExt cx="882751" cy="88275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82751" cy="882751"/>
              <a:chOff x="0" y="0"/>
              <a:chExt cx="635000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158727" y="150802"/>
              <a:ext cx="565298" cy="581147"/>
            </a:xfrm>
            <a:custGeom>
              <a:avLst/>
              <a:gdLst/>
              <a:ahLst/>
              <a:cxnLst/>
              <a:rect r="r" b="b" t="t" l="l"/>
              <a:pathLst>
                <a:path h="581147" w="565298">
                  <a:moveTo>
                    <a:pt x="0" y="0"/>
                  </a:moveTo>
                  <a:lnTo>
                    <a:pt x="565298" y="0"/>
                  </a:lnTo>
                  <a:lnTo>
                    <a:pt x="565298" y="581147"/>
                  </a:lnTo>
                  <a:lnTo>
                    <a:pt x="0" y="581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75493" y="866775"/>
            <a:ext cx="1086337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40"/>
              </a:lnSpc>
            </a:pPr>
            <a:r>
              <a:rPr lang="en-US" b="true" sz="3700" u="sng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Str</a:t>
            </a:r>
            <a:r>
              <a:rPr lang="en-US" b="true" sz="3700" u="sng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ategic Recommendations  (0 - 12 Month)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3401" y="3615088"/>
            <a:ext cx="2995392" cy="69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Reduce delays and improve ETA accuracy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3401" y="2342824"/>
            <a:ext cx="4155232" cy="74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1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IMPROVE </a:t>
            </a:r>
            <a:r>
              <a:rPr lang="en-US" b="true" sz="2199" u="non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DELIVERY CONSISTENCY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45437" y="3634138"/>
            <a:ext cx="4037071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Faste</a:t>
            </a:r>
            <a:r>
              <a:rPr lang="en-US" b="true" sz="1899" u="none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r resolution of refunds, missing and damaged orders.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30778" y="3524600"/>
            <a:ext cx="4037071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Op</a:t>
            </a:r>
            <a:r>
              <a:rPr lang="en-US" b="true" sz="1899" u="none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timize inventory based on local demand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3401" y="7451475"/>
            <a:ext cx="4037071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St</a:t>
            </a:r>
            <a:r>
              <a:rPr lang="en-US" b="true" sz="1899" u="none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rengthen quality checks, especially for fresh products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45437" y="7505101"/>
            <a:ext cx="4037071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Cont</a:t>
            </a:r>
            <a:r>
              <a:rPr lang="en-US" b="true" sz="1899" u="none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rol delivery, marketing and dark-store operating costs.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30778" y="7451475"/>
            <a:ext cx="4037071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Regula</a:t>
            </a:r>
            <a:r>
              <a:rPr lang="en-US" b="true" sz="1899" u="none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rly analyze reviews and complaints to identify service gaps.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28754" y="2340131"/>
            <a:ext cx="403504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Improve Product Availability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0724" y="6343051"/>
            <a:ext cx="403504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Improve Product Quality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22398" y="6343051"/>
            <a:ext cx="403504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Focus on Profitability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30778" y="6343051"/>
            <a:ext cx="403504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Use Customer Feedback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92430" y="2370153"/>
            <a:ext cx="4155232" cy="74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1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STRENGTHEN CUSTOM</a:t>
            </a:r>
            <a:r>
              <a:rPr lang="en-US" b="true" sz="2199" u="non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ER SUPPORT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65727" y="2493023"/>
            <a:ext cx="3121197" cy="6990707"/>
          </a:xfrm>
          <a:prstGeom prst="rect">
            <a:avLst/>
          </a:prstGeom>
          <a:solidFill>
            <a:srgbClr val="8C52FF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731344" y="7947562"/>
            <a:ext cx="1589962" cy="1214153"/>
          </a:xfrm>
          <a:custGeom>
            <a:avLst/>
            <a:gdLst/>
            <a:ahLst/>
            <a:cxnLst/>
            <a:rect r="r" b="b" t="t" l="l"/>
            <a:pathLst>
              <a:path h="1214153" w="1589962">
                <a:moveTo>
                  <a:pt x="0" y="0"/>
                </a:moveTo>
                <a:lnTo>
                  <a:pt x="1589962" y="0"/>
                </a:lnTo>
                <a:lnTo>
                  <a:pt x="1589962" y="1214153"/>
                </a:lnTo>
                <a:lnTo>
                  <a:pt x="0" y="121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1344" y="5944118"/>
            <a:ext cx="1589962" cy="1214153"/>
          </a:xfrm>
          <a:custGeom>
            <a:avLst/>
            <a:gdLst/>
            <a:ahLst/>
            <a:cxnLst/>
            <a:rect r="r" b="b" t="t" l="l"/>
            <a:pathLst>
              <a:path h="1214153" w="1589962">
                <a:moveTo>
                  <a:pt x="0" y="0"/>
                </a:moveTo>
                <a:lnTo>
                  <a:pt x="1589962" y="0"/>
                </a:lnTo>
                <a:lnTo>
                  <a:pt x="1589962" y="1214153"/>
                </a:lnTo>
                <a:lnTo>
                  <a:pt x="0" y="121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31344" y="3940674"/>
            <a:ext cx="1589962" cy="1214153"/>
          </a:xfrm>
          <a:custGeom>
            <a:avLst/>
            <a:gdLst/>
            <a:ahLst/>
            <a:cxnLst/>
            <a:rect r="r" b="b" t="t" l="l"/>
            <a:pathLst>
              <a:path h="1214153" w="1589962">
                <a:moveTo>
                  <a:pt x="0" y="0"/>
                </a:moveTo>
                <a:lnTo>
                  <a:pt x="1589962" y="0"/>
                </a:lnTo>
                <a:lnTo>
                  <a:pt x="1589962" y="1214153"/>
                </a:lnTo>
                <a:lnTo>
                  <a:pt x="0" y="121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rot="0">
            <a:off x="4267515" y="5622103"/>
            <a:ext cx="13054759" cy="1858184"/>
          </a:xfrm>
          <a:prstGeom prst="rect">
            <a:avLst/>
          </a:prstGeom>
          <a:solidFill>
            <a:srgbClr val="EDECED">
              <a:alpha val="34902"/>
            </a:srgbClr>
          </a:solidFill>
        </p:spPr>
      </p:sp>
      <p:sp>
        <p:nvSpPr>
          <p:cNvPr name="TextBox 7" id="7"/>
          <p:cNvSpPr txBox="true"/>
          <p:nvPr/>
        </p:nvSpPr>
        <p:spPr>
          <a:xfrm rot="0">
            <a:off x="4720621" y="5763794"/>
            <a:ext cx="12601652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Product Categories – Grow electronics, beauty, lifestyle, fashion and other high-demand categories.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Private Labels – Develop Zepto-owned brands to improve margins and customer loyalty.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AutoShape 8" id="8"/>
          <p:cNvSpPr/>
          <p:nvPr/>
        </p:nvSpPr>
        <p:spPr>
          <a:xfrm rot="0">
            <a:off x="4267515" y="7625546"/>
            <a:ext cx="13054759" cy="1858184"/>
          </a:xfrm>
          <a:prstGeom prst="rect">
            <a:avLst/>
          </a:prstGeom>
          <a:solidFill>
            <a:srgbClr val="EDECED">
              <a:alpha val="34902"/>
            </a:srgbClr>
          </a:solidFill>
        </p:spPr>
      </p:sp>
      <p:sp>
        <p:nvSpPr>
          <p:cNvPr name="TextBox 9" id="9"/>
          <p:cNvSpPr txBox="true"/>
          <p:nvPr/>
        </p:nvSpPr>
        <p:spPr>
          <a:xfrm rot="0">
            <a:off x="4600115" y="7468894"/>
            <a:ext cx="13204089" cy="195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5" indent="-237487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Sustainable Operations – Reduce packaging waste, optimize delivery routes and improve energy efficiency.</a:t>
            </a:r>
          </a:p>
          <a:p>
            <a:pPr algn="l" marL="474975" indent="-237487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 in Technology &amp; AI – Use advanced forecasting, automation and personalization to improve efficiency</a:t>
            </a:r>
          </a:p>
          <a:p>
            <a:pPr algn="l" marL="474975" indent="-237487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Customer Loyalty – Strengthen membership, rewards and personalized experiences.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897441" y="3555079"/>
            <a:ext cx="664124" cy="664124"/>
            <a:chOff x="0" y="0"/>
            <a:chExt cx="885498" cy="8854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5498" cy="885498"/>
            </a:xfrm>
            <a:custGeom>
              <a:avLst/>
              <a:gdLst/>
              <a:ahLst/>
              <a:cxnLst/>
              <a:rect r="r" b="b" t="t" l="l"/>
              <a:pathLst>
                <a:path h="885498" w="885498">
                  <a:moveTo>
                    <a:pt x="0" y="0"/>
                  </a:moveTo>
                  <a:lnTo>
                    <a:pt x="885498" y="0"/>
                  </a:lnTo>
                  <a:lnTo>
                    <a:pt x="885498" y="885498"/>
                  </a:lnTo>
                  <a:lnTo>
                    <a:pt x="0" y="885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4728" y="231273"/>
              <a:ext cx="376043" cy="422952"/>
            </a:xfrm>
            <a:custGeom>
              <a:avLst/>
              <a:gdLst/>
              <a:ahLst/>
              <a:cxnLst/>
              <a:rect r="r" b="b" t="t" l="l"/>
              <a:pathLst>
                <a:path h="422952" w="376043">
                  <a:moveTo>
                    <a:pt x="0" y="0"/>
                  </a:moveTo>
                  <a:lnTo>
                    <a:pt x="376043" y="0"/>
                  </a:lnTo>
                  <a:lnTo>
                    <a:pt x="376043" y="422952"/>
                  </a:lnTo>
                  <a:lnTo>
                    <a:pt x="0" y="422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897441" y="7526044"/>
            <a:ext cx="608651" cy="608651"/>
            <a:chOff x="0" y="0"/>
            <a:chExt cx="811534" cy="811534"/>
          </a:xfrm>
        </p:grpSpPr>
        <p:sp>
          <p:nvSpPr>
            <p:cNvPr name="Freeform 14" id="14"/>
            <p:cNvSpPr/>
            <p:nvPr/>
          </p:nvSpPr>
          <p:spPr>
            <a:xfrm flipH="false" flipV="false" rot="5400000">
              <a:off x="0" y="0"/>
              <a:ext cx="811534" cy="811534"/>
            </a:xfrm>
            <a:custGeom>
              <a:avLst/>
              <a:gdLst/>
              <a:ahLst/>
              <a:cxnLst/>
              <a:rect r="r" b="b" t="t" l="l"/>
              <a:pathLst>
                <a:path h="811534" w="811534">
                  <a:moveTo>
                    <a:pt x="0" y="0"/>
                  </a:moveTo>
                  <a:lnTo>
                    <a:pt x="811534" y="0"/>
                  </a:lnTo>
                  <a:lnTo>
                    <a:pt x="811534" y="811534"/>
                  </a:lnTo>
                  <a:lnTo>
                    <a:pt x="0" y="811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2857" y="170365"/>
              <a:ext cx="485821" cy="470805"/>
            </a:xfrm>
            <a:custGeom>
              <a:avLst/>
              <a:gdLst/>
              <a:ahLst/>
              <a:cxnLst/>
              <a:rect r="r" b="b" t="t" l="l"/>
              <a:pathLst>
                <a:path h="470805" w="485821">
                  <a:moveTo>
                    <a:pt x="0" y="0"/>
                  </a:moveTo>
                  <a:lnTo>
                    <a:pt x="485821" y="0"/>
                  </a:lnTo>
                  <a:lnTo>
                    <a:pt x="485821" y="470804"/>
                  </a:lnTo>
                  <a:lnTo>
                    <a:pt x="0" y="470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897441" y="5613996"/>
            <a:ext cx="608651" cy="608651"/>
            <a:chOff x="0" y="0"/>
            <a:chExt cx="811534" cy="81153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11534" cy="811534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73737"/>
              </a:solidFill>
            </p:spPr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45921" y="138636"/>
              <a:ext cx="519692" cy="534263"/>
            </a:xfrm>
            <a:custGeom>
              <a:avLst/>
              <a:gdLst/>
              <a:ahLst/>
              <a:cxnLst/>
              <a:rect r="r" b="b" t="t" l="l"/>
              <a:pathLst>
                <a:path h="534263" w="519692">
                  <a:moveTo>
                    <a:pt x="0" y="0"/>
                  </a:moveTo>
                  <a:lnTo>
                    <a:pt x="519692" y="0"/>
                  </a:lnTo>
                  <a:lnTo>
                    <a:pt x="519692" y="534262"/>
                  </a:lnTo>
                  <a:lnTo>
                    <a:pt x="0" y="534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934085" y="8461551"/>
            <a:ext cx="1184480" cy="37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Year - 5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34085" y="6463881"/>
            <a:ext cx="1184480" cy="37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Year - 4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34085" y="4466211"/>
            <a:ext cx="1184480" cy="37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Year - 3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00115" y="3979262"/>
            <a:ext cx="12297327" cy="139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to More Cities – Build a sustainable presence beyond major urban markets.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Strengthen Profitability – Improve unit economics and reduce dependence on heavy discounting.</a:t>
            </a:r>
          </a:p>
          <a:p>
            <a:pPr algn="l">
              <a:lnSpc>
                <a:spcPts val="167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717281" y="860317"/>
            <a:ext cx="110013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</a:pPr>
            <a:r>
              <a:rPr lang="en-US" b="true" sz="3200" u="sng">
                <a:solidFill>
                  <a:srgbClr val="373737"/>
                </a:solidFill>
                <a:latin typeface="Arial Bold"/>
                <a:ea typeface="Arial Bold"/>
                <a:cs typeface="Arial Bold"/>
                <a:sym typeface="Arial Bold"/>
              </a:rPr>
              <a:t>Strategic Recommendations — Long Term (3–5 Years)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ED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5482104" y="738293"/>
            <a:ext cx="11777196" cy="1309652"/>
          </a:xfrm>
          <a:prstGeom prst="rect">
            <a:avLst/>
          </a:prstGeom>
          <a:solidFill>
            <a:srgbClr val="F6F6F6"/>
          </a:solidFill>
        </p:spPr>
      </p:sp>
      <p:sp>
        <p:nvSpPr>
          <p:cNvPr name="AutoShape 3" id="3"/>
          <p:cNvSpPr/>
          <p:nvPr/>
        </p:nvSpPr>
        <p:spPr>
          <a:xfrm rot="0">
            <a:off x="5482104" y="2238445"/>
            <a:ext cx="11777196" cy="1309652"/>
          </a:xfrm>
          <a:prstGeom prst="rect">
            <a:avLst/>
          </a:prstGeom>
          <a:solidFill>
            <a:srgbClr val="F6F6F6"/>
          </a:solidFill>
        </p:spPr>
      </p:sp>
      <p:sp>
        <p:nvSpPr>
          <p:cNvPr name="AutoShape 4" id="4"/>
          <p:cNvSpPr/>
          <p:nvPr/>
        </p:nvSpPr>
        <p:spPr>
          <a:xfrm rot="0">
            <a:off x="5482104" y="3738598"/>
            <a:ext cx="11777196" cy="1309652"/>
          </a:xfrm>
          <a:prstGeom prst="rect">
            <a:avLst/>
          </a:prstGeom>
          <a:solidFill>
            <a:srgbClr val="F6F6F6"/>
          </a:solidFill>
        </p:spPr>
      </p:sp>
      <p:sp>
        <p:nvSpPr>
          <p:cNvPr name="AutoShape 5" id="5"/>
          <p:cNvSpPr/>
          <p:nvPr/>
        </p:nvSpPr>
        <p:spPr>
          <a:xfrm rot="0">
            <a:off x="5482104" y="5238750"/>
            <a:ext cx="11777196" cy="1309652"/>
          </a:xfrm>
          <a:prstGeom prst="rect">
            <a:avLst/>
          </a:prstGeom>
          <a:solidFill>
            <a:srgbClr val="F6F6F6"/>
          </a:solidFill>
        </p:spPr>
      </p:sp>
      <p:sp>
        <p:nvSpPr>
          <p:cNvPr name="AutoShape 6" id="6"/>
          <p:cNvSpPr/>
          <p:nvPr/>
        </p:nvSpPr>
        <p:spPr>
          <a:xfrm rot="0">
            <a:off x="1028700" y="738293"/>
            <a:ext cx="4283150" cy="1309652"/>
          </a:xfrm>
          <a:prstGeom prst="rect">
            <a:avLst/>
          </a:prstGeom>
          <a:solidFill>
            <a:srgbClr val="F6F6F6"/>
          </a:solidFill>
        </p:spPr>
      </p:sp>
      <p:sp>
        <p:nvSpPr>
          <p:cNvPr name="AutoShape 7" id="7"/>
          <p:cNvSpPr/>
          <p:nvPr/>
        </p:nvSpPr>
        <p:spPr>
          <a:xfrm rot="0">
            <a:off x="1028700" y="2238445"/>
            <a:ext cx="4283150" cy="1309652"/>
          </a:xfrm>
          <a:prstGeom prst="rect">
            <a:avLst/>
          </a:prstGeom>
          <a:solidFill>
            <a:srgbClr val="F6F6F6"/>
          </a:solidFill>
        </p:spPr>
      </p:sp>
      <p:sp>
        <p:nvSpPr>
          <p:cNvPr name="AutoShape 8" id="8"/>
          <p:cNvSpPr/>
          <p:nvPr/>
        </p:nvSpPr>
        <p:spPr>
          <a:xfrm rot="0">
            <a:off x="1028700" y="3738598"/>
            <a:ext cx="4283150" cy="1309652"/>
          </a:xfrm>
          <a:prstGeom prst="rect">
            <a:avLst/>
          </a:prstGeom>
          <a:solidFill>
            <a:srgbClr val="F6F6F6"/>
          </a:solidFill>
        </p:spPr>
      </p:sp>
      <p:sp>
        <p:nvSpPr>
          <p:cNvPr name="AutoShape 9" id="9"/>
          <p:cNvSpPr/>
          <p:nvPr/>
        </p:nvSpPr>
        <p:spPr>
          <a:xfrm rot="0">
            <a:off x="1028700" y="5238750"/>
            <a:ext cx="4283150" cy="1309652"/>
          </a:xfrm>
          <a:prstGeom prst="rect">
            <a:avLst/>
          </a:prstGeom>
          <a:solidFill>
            <a:srgbClr val="F6F6F6"/>
          </a:solidFill>
        </p:spPr>
      </p:sp>
      <p:sp>
        <p:nvSpPr>
          <p:cNvPr name="Freeform 10" id="10"/>
          <p:cNvSpPr/>
          <p:nvPr/>
        </p:nvSpPr>
        <p:spPr>
          <a:xfrm flipH="false" flipV="false" rot="0">
            <a:off x="5482104" y="6544705"/>
            <a:ext cx="4776472" cy="2965288"/>
          </a:xfrm>
          <a:custGeom>
            <a:avLst/>
            <a:gdLst/>
            <a:ahLst/>
            <a:cxnLst/>
            <a:rect r="r" b="b" t="t" l="l"/>
            <a:pathLst>
              <a:path h="2965288" w="4776472">
                <a:moveTo>
                  <a:pt x="0" y="0"/>
                </a:moveTo>
                <a:lnTo>
                  <a:pt x="4776472" y="0"/>
                </a:lnTo>
                <a:lnTo>
                  <a:pt x="4776472" y="2965288"/>
                </a:lnTo>
                <a:lnTo>
                  <a:pt x="0" y="2965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14452" y="894390"/>
            <a:ext cx="10976852" cy="959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56"/>
              </a:lnSpc>
              <a:buFont typeface="Arial"/>
              <a:buChar char="•"/>
            </a:pPr>
            <a:r>
              <a:rPr lang="en-US" sz="1800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Zept</a:t>
            </a:r>
            <a:r>
              <a:rPr lang="en-US" sz="1800" u="none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o is associated with quick delivery and easy access to everyday essentials.</a:t>
            </a:r>
          </a:p>
          <a:p>
            <a:pPr algn="l" marL="388620" indent="-194310" lvl="1">
              <a:lnSpc>
                <a:spcPts val="2556"/>
              </a:lnSpc>
              <a:buFont typeface="Arial"/>
              <a:buChar char="•"/>
            </a:pPr>
            <a:r>
              <a:rPr lang="en-US" sz="1800" u="none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Expansion into additional product categories can help position Zepto as an everyday shopping platform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4778" y="1012119"/>
            <a:ext cx="346591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</a:pPr>
            <a:r>
              <a:rPr lang="en-US" b="true" sz="2499">
                <a:solidFill>
                  <a:srgbClr val="363839"/>
                </a:solidFill>
                <a:latin typeface="Arial Bold"/>
                <a:ea typeface="Arial Bold"/>
                <a:cs typeface="Arial Bold"/>
                <a:sym typeface="Arial Bold"/>
              </a:rPr>
              <a:t>St</a:t>
            </a:r>
            <a:r>
              <a:rPr lang="en-US" b="true" sz="2499" u="none">
                <a:solidFill>
                  <a:srgbClr val="363839"/>
                </a:solidFill>
                <a:latin typeface="Arial Bold"/>
                <a:ea typeface="Arial Bold"/>
                <a:cs typeface="Arial Bold"/>
                <a:sym typeface="Arial Bold"/>
              </a:rPr>
              <a:t>rong convenience positioning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14452" y="2170204"/>
            <a:ext cx="10976852" cy="1602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9" indent="-194310" lvl="1">
              <a:lnSpc>
                <a:spcPts val="2555"/>
              </a:lnSpc>
              <a:spcBef>
                <a:spcPct val="0"/>
              </a:spcBef>
              <a:buFont typeface="Arial"/>
              <a:buChar char="•"/>
            </a:pPr>
            <a:r>
              <a:rPr lang="en-US" sz="1799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Positive t</a:t>
            </a:r>
            <a:r>
              <a:rPr lang="en-US" sz="1799" u="none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hemes to investigate: convenience, time savings, easy ordering and delivery speed.</a:t>
            </a:r>
          </a:p>
          <a:p>
            <a:pPr algn="l" marL="388619" indent="-194310" lvl="1">
              <a:lnSpc>
                <a:spcPts val="2555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Negative themes to investigate: missing items, refund delays, product freshness and customer support.</a:t>
            </a:r>
          </a:p>
          <a:p>
            <a:pPr algn="l" marL="388619" indent="-194310" lvl="1">
              <a:lnSpc>
                <a:spcPts val="2555"/>
              </a:lnSpc>
              <a:spcBef>
                <a:spcPct val="0"/>
              </a:spcBef>
              <a:buFont typeface="Arial"/>
              <a:buChar char="•"/>
            </a:pPr>
            <a:r>
              <a:rPr lang="en-US" sz="1799" u="none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Key finding: Analyse whether complaints are isolated incidents or recurring patterns across locations</a:t>
            </a:r>
          </a:p>
          <a:p>
            <a:pPr algn="l" marL="0" indent="0" lvl="0">
              <a:lnSpc>
                <a:spcPts val="2555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865411" y="3894695"/>
            <a:ext cx="10976852" cy="959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56"/>
              </a:lnSpc>
              <a:buFont typeface="Arial"/>
              <a:buChar char="•"/>
            </a:pPr>
            <a:r>
              <a:rPr lang="en-US" sz="1800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C</a:t>
            </a:r>
            <a:r>
              <a:rPr lang="en-US" sz="1800" u="none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ategory expansion</a:t>
            </a:r>
          </a:p>
          <a:p>
            <a:pPr algn="l" marL="388620" indent="-194310" lvl="1">
              <a:lnSpc>
                <a:spcPts val="2556"/>
              </a:lnSpc>
              <a:buFont typeface="Arial"/>
              <a:buChar char="•"/>
            </a:pPr>
            <a:r>
              <a:rPr lang="en-US" sz="1800" u="none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Increasing competition</a:t>
            </a:r>
          </a:p>
          <a:p>
            <a:pPr algn="l" marL="388620" indent="-194310" lvl="1">
              <a:lnSpc>
                <a:spcPts val="2556"/>
              </a:lnSpc>
              <a:buFont typeface="Arial"/>
              <a:buChar char="•"/>
            </a:pPr>
            <a:r>
              <a:rPr lang="en-US" sz="1800" u="none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Profitability focus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14452" y="5394847"/>
            <a:ext cx="10976852" cy="959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56"/>
              </a:lnSpc>
              <a:buFont typeface="Arial"/>
              <a:buChar char="•"/>
            </a:pPr>
            <a:r>
              <a:rPr lang="en-US" sz="1800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Improve order accuracy</a:t>
            </a:r>
          </a:p>
          <a:p>
            <a:pPr algn="l" marL="388620" indent="-194310" lvl="1">
              <a:lnSpc>
                <a:spcPts val="2556"/>
              </a:lnSpc>
              <a:buFont typeface="Arial"/>
              <a:buChar char="•"/>
            </a:pPr>
            <a:r>
              <a:rPr lang="en-US" sz="1800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Improve unit economics</a:t>
            </a:r>
          </a:p>
          <a:p>
            <a:pPr algn="l" marL="388620" indent="-194310" lvl="1">
              <a:lnSpc>
                <a:spcPts val="2556"/>
              </a:lnSpc>
              <a:buFont typeface="Arial"/>
              <a:buChar char="•"/>
            </a:pPr>
            <a:r>
              <a:rPr lang="en-US" sz="1800">
                <a:solidFill>
                  <a:srgbClr val="363839"/>
                </a:solidFill>
                <a:latin typeface="Clear Sans"/>
                <a:ea typeface="Clear Sans"/>
                <a:cs typeface="Clear Sans"/>
                <a:sym typeface="Clear Sans"/>
              </a:rPr>
              <a:t>Increase customer retention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7317" y="1833598"/>
            <a:ext cx="3465916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</a:p>
          <a:p>
            <a:pPr algn="ctr" marL="0" indent="0" lvl="0">
              <a:lnSpc>
                <a:spcPts val="2999"/>
              </a:lnSpc>
            </a:pPr>
            <a:r>
              <a:rPr lang="en-US" b="true" sz="2499">
                <a:solidFill>
                  <a:srgbClr val="363839"/>
                </a:solidFill>
                <a:latin typeface="Arial Bold"/>
                <a:ea typeface="Arial Bold"/>
                <a:cs typeface="Arial Bold"/>
                <a:sym typeface="Arial Bold"/>
              </a:rPr>
              <a:t>Cu</a:t>
            </a:r>
            <a:r>
              <a:rPr lang="en-US" b="true" sz="2499">
                <a:solidFill>
                  <a:srgbClr val="363839"/>
                </a:solidFill>
                <a:latin typeface="Arial Bold"/>
                <a:ea typeface="Arial Bold"/>
                <a:cs typeface="Arial Bold"/>
                <a:sym typeface="Arial Bold"/>
              </a:rPr>
              <a:t>stomer Rev</a:t>
            </a:r>
            <a:r>
              <a:rPr lang="en-US" b="true" sz="2499" u="none">
                <a:solidFill>
                  <a:srgbClr val="363839"/>
                </a:solidFill>
                <a:latin typeface="Arial Bold"/>
                <a:ea typeface="Arial Bold"/>
                <a:cs typeface="Arial Bold"/>
                <a:sym typeface="Arial Bold"/>
              </a:rPr>
              <a:t>iews &amp; Sentiment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4778" y="4198161"/>
            <a:ext cx="34659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</a:pPr>
            <a:r>
              <a:rPr lang="en-US" b="true" sz="2499">
                <a:solidFill>
                  <a:srgbClr val="363839"/>
                </a:solidFill>
                <a:latin typeface="Arial Bold"/>
                <a:ea typeface="Arial Bold"/>
                <a:cs typeface="Arial Bold"/>
                <a:sym typeface="Arial Bold"/>
              </a:rPr>
              <a:t>Curren</a:t>
            </a:r>
            <a:r>
              <a:rPr lang="en-US" b="true" sz="2499" u="none">
                <a:solidFill>
                  <a:srgbClr val="363839"/>
                </a:solidFill>
                <a:latin typeface="Arial Bold"/>
                <a:ea typeface="Arial Bold"/>
                <a:cs typeface="Arial Bold"/>
                <a:sym typeface="Arial Bold"/>
              </a:rPr>
              <a:t>t Market Trends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4778" y="5512576"/>
            <a:ext cx="346591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</a:pPr>
            <a:r>
              <a:rPr lang="en-US" b="true" sz="2499">
                <a:solidFill>
                  <a:srgbClr val="363839"/>
                </a:solidFill>
                <a:latin typeface="Arial Bold"/>
                <a:ea typeface="Arial Bold"/>
                <a:cs typeface="Arial Bold"/>
                <a:sym typeface="Arial Bold"/>
              </a:rPr>
              <a:t>Strategic </a:t>
            </a:r>
            <a:r>
              <a:rPr lang="en-US" b="true" sz="2499" u="none">
                <a:solidFill>
                  <a:srgbClr val="363839"/>
                </a:solidFill>
                <a:latin typeface="Arial Bold"/>
                <a:ea typeface="Arial Bold"/>
                <a:cs typeface="Arial Bold"/>
                <a:sym typeface="Arial Bold"/>
              </a:rPr>
              <a:t>Recommendations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69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09512" y="-1346526"/>
            <a:ext cx="8991126" cy="8991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32818" y="3149037"/>
            <a:ext cx="8991126" cy="89911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61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06386" y="-1346526"/>
            <a:ext cx="8991126" cy="89911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E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28700"/>
            <a:ext cx="16230600" cy="6304430"/>
            <a:chOff x="0" y="0"/>
            <a:chExt cx="3138035" cy="12189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917" y="0"/>
              <a:ext cx="3132200" cy="1218903"/>
            </a:xfrm>
            <a:custGeom>
              <a:avLst/>
              <a:gdLst/>
              <a:ahLst/>
              <a:cxnLst/>
              <a:rect r="r" b="b" t="t" l="l"/>
              <a:pathLst>
                <a:path h="1218903" w="3132200">
                  <a:moveTo>
                    <a:pt x="219363" y="1218903"/>
                  </a:moveTo>
                  <a:lnTo>
                    <a:pt x="2912838" y="1218903"/>
                  </a:lnTo>
                  <a:cubicBezTo>
                    <a:pt x="2923848" y="1218903"/>
                    <a:pt x="2933245" y="1210943"/>
                    <a:pt x="2935055" y="1200083"/>
                  </a:cubicBezTo>
                  <a:lnTo>
                    <a:pt x="3131980" y="18820"/>
                  </a:lnTo>
                  <a:cubicBezTo>
                    <a:pt x="3132762" y="14134"/>
                    <a:pt x="3131441" y="9341"/>
                    <a:pt x="3128370" y="5716"/>
                  </a:cubicBezTo>
                  <a:cubicBezTo>
                    <a:pt x="3125300" y="2090"/>
                    <a:pt x="3120789" y="0"/>
                    <a:pt x="3116038" y="0"/>
                  </a:cubicBezTo>
                  <a:lnTo>
                    <a:pt x="16163" y="0"/>
                  </a:lnTo>
                  <a:cubicBezTo>
                    <a:pt x="11412" y="0"/>
                    <a:pt x="6901" y="2090"/>
                    <a:pt x="3830" y="5716"/>
                  </a:cubicBezTo>
                  <a:cubicBezTo>
                    <a:pt x="759" y="9341"/>
                    <a:pt x="-561" y="14134"/>
                    <a:pt x="220" y="18820"/>
                  </a:cubicBezTo>
                  <a:lnTo>
                    <a:pt x="197146" y="1200083"/>
                  </a:lnTo>
                  <a:cubicBezTo>
                    <a:pt x="198956" y="1210943"/>
                    <a:pt x="208353" y="1218903"/>
                    <a:pt x="219363" y="1218903"/>
                  </a:cubicBezTo>
                  <a:close/>
                </a:path>
              </a:pathLst>
            </a:custGeom>
            <a:solidFill>
              <a:srgbClr val="E1EB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38100"/>
              <a:ext cx="2884035" cy="125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92286" y="8271155"/>
            <a:ext cx="18672571" cy="2851811"/>
          </a:xfrm>
          <a:custGeom>
            <a:avLst/>
            <a:gdLst/>
            <a:ahLst/>
            <a:cxnLst/>
            <a:rect r="r" b="b" t="t" l="l"/>
            <a:pathLst>
              <a:path h="2851811" w="18672571">
                <a:moveTo>
                  <a:pt x="0" y="0"/>
                </a:moveTo>
                <a:lnTo>
                  <a:pt x="18672572" y="0"/>
                </a:lnTo>
                <a:lnTo>
                  <a:pt x="18672572" y="2851811"/>
                </a:lnTo>
                <a:lnTo>
                  <a:pt x="0" y="285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3781600"/>
            <a:ext cx="6622293" cy="4948659"/>
          </a:xfrm>
          <a:custGeom>
            <a:avLst/>
            <a:gdLst/>
            <a:ahLst/>
            <a:cxnLst/>
            <a:rect r="r" b="b" t="t" l="l"/>
            <a:pathLst>
              <a:path h="4948659" w="6622293">
                <a:moveTo>
                  <a:pt x="0" y="0"/>
                </a:moveTo>
                <a:lnTo>
                  <a:pt x="6622293" y="0"/>
                </a:lnTo>
                <a:lnTo>
                  <a:pt x="6622293" y="4948659"/>
                </a:lnTo>
                <a:lnTo>
                  <a:pt x="0" y="49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911518" y="1490926"/>
            <a:ext cx="1682450" cy="1658111"/>
          </a:xfrm>
          <a:custGeom>
            <a:avLst/>
            <a:gdLst/>
            <a:ahLst/>
            <a:cxnLst/>
            <a:rect r="r" b="b" t="t" l="l"/>
            <a:pathLst>
              <a:path h="1658111" w="1682450">
                <a:moveTo>
                  <a:pt x="0" y="0"/>
                </a:moveTo>
                <a:lnTo>
                  <a:pt x="1682450" y="0"/>
                </a:lnTo>
                <a:lnTo>
                  <a:pt x="1682450" y="1658111"/>
                </a:lnTo>
                <a:lnTo>
                  <a:pt x="0" y="1658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2607425">
            <a:off x="4771735" y="2267760"/>
            <a:ext cx="882149" cy="2594556"/>
          </a:xfrm>
          <a:custGeom>
            <a:avLst/>
            <a:gdLst/>
            <a:ahLst/>
            <a:cxnLst/>
            <a:rect r="r" b="b" t="t" l="l"/>
            <a:pathLst>
              <a:path h="2594556" w="882149">
                <a:moveTo>
                  <a:pt x="0" y="0"/>
                </a:moveTo>
                <a:lnTo>
                  <a:pt x="882149" y="0"/>
                </a:lnTo>
                <a:lnTo>
                  <a:pt x="882149" y="2594557"/>
                </a:lnTo>
                <a:lnTo>
                  <a:pt x="0" y="2594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8177190" y="2009775"/>
            <a:ext cx="8583916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FF7F5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64013" y="5231656"/>
            <a:ext cx="7232152" cy="158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26262F"/>
                </a:solidFill>
                <a:latin typeface="Garet Italics"/>
                <a:ea typeface="Garet Italics"/>
                <a:cs typeface="Garet Italics"/>
                <a:sym typeface="Garet Italics"/>
              </a:rPr>
              <a:t>F</a:t>
            </a:r>
            <a:r>
              <a:rPr lang="en-US" sz="3000" i="true" strike="noStrike" u="none">
                <a:solidFill>
                  <a:srgbClr val="26262F"/>
                </a:solidFill>
                <a:latin typeface="Garet Italics"/>
                <a:ea typeface="Garet Italics"/>
                <a:cs typeface="Garet Italics"/>
                <a:sym typeface="Garet Italics"/>
              </a:rPr>
              <a:t>OR JOINING ME TODAY TO EXPLORE THE EXCITING TRENDS SHAPING THE FUTURE OF E-COMMERCE.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7238611">
            <a:off x="15289832" y="1577304"/>
            <a:ext cx="2935145" cy="960593"/>
          </a:xfrm>
          <a:custGeom>
            <a:avLst/>
            <a:gdLst/>
            <a:ahLst/>
            <a:cxnLst/>
            <a:rect r="r" b="b" t="t" l="l"/>
            <a:pathLst>
              <a:path h="960593" w="2935145">
                <a:moveTo>
                  <a:pt x="0" y="0"/>
                </a:moveTo>
                <a:lnTo>
                  <a:pt x="2935146" y="0"/>
                </a:lnTo>
                <a:lnTo>
                  <a:pt x="2935146" y="960593"/>
                </a:lnTo>
                <a:lnTo>
                  <a:pt x="0" y="960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5596165" y="4043915"/>
            <a:ext cx="766015" cy="766015"/>
          </a:xfrm>
          <a:custGeom>
            <a:avLst/>
            <a:gdLst/>
            <a:ahLst/>
            <a:cxnLst/>
            <a:rect r="r" b="b" t="t" l="l"/>
            <a:pathLst>
              <a:path h="766015" w="766015">
                <a:moveTo>
                  <a:pt x="0" y="0"/>
                </a:moveTo>
                <a:lnTo>
                  <a:pt x="766015" y="0"/>
                </a:lnTo>
                <a:lnTo>
                  <a:pt x="766015" y="766015"/>
                </a:lnTo>
                <a:lnTo>
                  <a:pt x="0" y="766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DAHWN6N8KlI</dc:identifier>
  <dcterms:modified xsi:type="dcterms:W3CDTF">2011-08-01T06:04:30Z</dcterms:modified>
  <cp:revision>1</cp:revision>
  <dc:title>Zepto Case Study</dc:title>
</cp:coreProperties>
</file>